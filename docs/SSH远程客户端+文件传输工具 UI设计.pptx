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3716000" cy="8572500"/>
  <p:notesSz cx="13716000" cy="8572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609600" cy="857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"/>
          <p:cNvSpPr/>
          <p:nvPr/>
        </p:nvSpPr>
        <p:spPr>
          <a:xfrm>
            <a:off x="114300" y="152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ath"/>
          <p:cNvSpPr/>
          <p:nvPr/>
        </p:nvSpPr>
        <p:spPr>
          <a:xfrm>
            <a:off x="225593" y="273218"/>
            <a:ext cx="82214" cy="139364"/>
          </a:xfrm>
          <a:custGeom>
            <a:avLst/>
            <a:gdLst/>
            <a:ahLst/>
            <a:cxnLst/>
            <a:rect l="0" t="0" r="r" b="b"/>
            <a:pathLst>
              <a:path w="82214" h="139364">
                <a:moveTo>
                  <a:pt x="78438" y="60926"/>
                </a:moveTo>
                <a:lnTo>
                  <a:pt x="21288" y="3776"/>
                </a:lnTo>
                <a:quadBezTo>
                  <a:pt x="17723" y="0"/>
                  <a:pt x="12532" y="149"/>
                </a:quadBezTo>
                <a:quadBezTo>
                  <a:pt x="7341" y="0"/>
                  <a:pt x="3776" y="3776"/>
                </a:quadBezTo>
                <a:quadBezTo>
                  <a:pt x="0" y="7341"/>
                  <a:pt x="149" y="12532"/>
                </a:quadBezTo>
                <a:quadBezTo>
                  <a:pt x="0" y="17723"/>
                  <a:pt x="3776" y="21288"/>
                </a:quadBezTo>
                <a:lnTo>
                  <a:pt x="52170" y="69682"/>
                </a:lnTo>
                <a:lnTo>
                  <a:pt x="3776" y="118076"/>
                </a:lnTo>
                <a:quadBezTo>
                  <a:pt x="0" y="121641"/>
                  <a:pt x="149" y="126832"/>
                </a:quadBezTo>
                <a:quadBezTo>
                  <a:pt x="0" y="132023"/>
                  <a:pt x="3776" y="135588"/>
                </a:quadBezTo>
                <a:quadBezTo>
                  <a:pt x="7341" y="139364"/>
                  <a:pt x="12532" y="139214"/>
                </a:quadBezTo>
                <a:quadBezTo>
                  <a:pt x="17723" y="139364"/>
                  <a:pt x="21288" y="135588"/>
                </a:quadBezTo>
                <a:lnTo>
                  <a:pt x="78438" y="78438"/>
                </a:lnTo>
                <a:quadBezTo>
                  <a:pt x="82214" y="74873"/>
                  <a:pt x="82064" y="69682"/>
                </a:quadBezTo>
                <a:quadBezTo>
                  <a:pt x="82214" y="64491"/>
                  <a:pt x="78438" y="60926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306556" y="387518"/>
            <a:ext cx="86976" cy="25064"/>
          </a:xfrm>
          <a:custGeom>
            <a:avLst/>
            <a:gdLst/>
            <a:ahLst/>
            <a:cxnLst/>
            <a:rect l="0" t="0" r="r" b="b"/>
            <a:pathLst>
              <a:path w="86976" h="25064">
                <a:moveTo>
                  <a:pt x="74444" y="149"/>
                </a:moveTo>
                <a:lnTo>
                  <a:pt x="12532" y="149"/>
                </a:lnTo>
                <a:quadBezTo>
                  <a:pt x="7341" y="0"/>
                  <a:pt x="3776" y="3776"/>
                </a:quadBezTo>
                <a:quadBezTo>
                  <a:pt x="0" y="7341"/>
                  <a:pt x="149" y="12532"/>
                </a:quadBezTo>
                <a:quadBezTo>
                  <a:pt x="0" y="17723"/>
                  <a:pt x="3776" y="21288"/>
                </a:quadBezTo>
                <a:quadBezTo>
                  <a:pt x="7341" y="25064"/>
                  <a:pt x="12532" y="24914"/>
                </a:quadBezTo>
                <a:lnTo>
                  <a:pt x="74444" y="24914"/>
                </a:lnTo>
                <a:quadBezTo>
                  <a:pt x="79635" y="25064"/>
                  <a:pt x="83200" y="21288"/>
                </a:quadBezTo>
                <a:quadBezTo>
                  <a:pt x="86976" y="17723"/>
                  <a:pt x="86827" y="12532"/>
                </a:quadBezTo>
                <a:quadBezTo>
                  <a:pt x="86976" y="7341"/>
                  <a:pt x="83200" y="3776"/>
                </a:quadBezTo>
                <a:quadBezTo>
                  <a:pt x="79635" y="0"/>
                  <a:pt x="74444" y="149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14300" y="7620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37331" y="889000"/>
            <a:ext cx="134937" cy="55562"/>
          </a:xfrm>
          <a:prstGeom prst="roundRect">
            <a:avLst>
              <a:gd name="adj" fmla="val 28571"/>
            </a:avLst>
          </a:prstGeom>
          <a:noFill/>
          <a:ln w="15875">
            <a:solidFill>
              <a:srgbClr val="1A73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37331" y="960438"/>
            <a:ext cx="134937" cy="55562"/>
          </a:xfrm>
          <a:prstGeom prst="roundRect">
            <a:avLst>
              <a:gd name="adj" fmla="val 28571"/>
            </a:avLst>
          </a:prstGeom>
          <a:noFill/>
          <a:ln w="15875">
            <a:solidFill>
              <a:srgbClr val="1A73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258762" y="906462"/>
            <a:ext cx="20637" cy="20637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258762" y="977900"/>
            <a:ext cx="20637" cy="20637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229394" y="1365244"/>
            <a:ext cx="166688" cy="138912"/>
          </a:xfrm>
          <a:custGeom>
            <a:avLst/>
            <a:gdLst/>
            <a:ahLst/>
            <a:cxnLst/>
            <a:rect l="0" t="0" r="r" b="b"/>
            <a:pathLst>
              <a:path w="166688" h="138912">
                <a:moveTo>
                  <a:pt x="6975" y="6980"/>
                </a:moveTo>
                <a:quadBezTo>
                  <a:pt x="13949" y="6"/>
                  <a:pt x="23813" y="6"/>
                </a:quadBezTo>
                <a:lnTo>
                  <a:pt x="57150" y="6"/>
                </a:lnTo>
                <a:quadBezTo>
                  <a:pt x="58730" y="0"/>
                  <a:pt x="60188" y="610"/>
                </a:quadBezTo>
                <a:quadBezTo>
                  <a:pt x="61650" y="1209"/>
                  <a:pt x="62763" y="2331"/>
                </a:quadBezTo>
                <a:lnTo>
                  <a:pt x="76313" y="15881"/>
                </a:lnTo>
                <a:lnTo>
                  <a:pt x="142875" y="15881"/>
                </a:lnTo>
                <a:quadBezTo>
                  <a:pt x="152738" y="15881"/>
                  <a:pt x="159713" y="22855"/>
                </a:quadBezTo>
                <a:quadBezTo>
                  <a:pt x="166688" y="29830"/>
                  <a:pt x="166688" y="39693"/>
                </a:quadBezTo>
                <a:lnTo>
                  <a:pt x="166688" y="115100"/>
                </a:lnTo>
                <a:quadBezTo>
                  <a:pt x="166688" y="124963"/>
                  <a:pt x="159713" y="131938"/>
                </a:quadBezTo>
                <a:quadBezTo>
                  <a:pt x="152738" y="138912"/>
                  <a:pt x="142875" y="138912"/>
                </a:quadBezTo>
                <a:lnTo>
                  <a:pt x="23813" y="138912"/>
                </a:lnTo>
                <a:quadBezTo>
                  <a:pt x="13949" y="138912"/>
                  <a:pt x="6975" y="131938"/>
                </a:quadBezTo>
                <a:quadBezTo>
                  <a:pt x="0" y="124963"/>
                  <a:pt x="0" y="115100"/>
                </a:quadBezTo>
                <a:lnTo>
                  <a:pt x="0" y="23818"/>
                </a:lnTo>
                <a:quadBezTo>
                  <a:pt x="0" y="13955"/>
                  <a:pt x="6975" y="6980"/>
                </a:quadBezTo>
                <a:lnTo>
                  <a:pt x="6975" y="6980"/>
                </a:lnTo>
                <a:close/>
                <a:moveTo>
                  <a:pt x="18200" y="18206"/>
                </a:moveTo>
                <a:quadBezTo>
                  <a:pt x="15875" y="20531"/>
                  <a:pt x="15875" y="23818"/>
                </a:quadBezTo>
                <a:lnTo>
                  <a:pt x="15875" y="115100"/>
                </a:lnTo>
                <a:quadBezTo>
                  <a:pt x="15875" y="118387"/>
                  <a:pt x="18200" y="120712"/>
                </a:quadBezTo>
                <a:quadBezTo>
                  <a:pt x="20525" y="123037"/>
                  <a:pt x="23813" y="123037"/>
                </a:quadBezTo>
                <a:lnTo>
                  <a:pt x="142875" y="123037"/>
                </a:lnTo>
                <a:quadBezTo>
                  <a:pt x="146163" y="123037"/>
                  <a:pt x="148488" y="120712"/>
                </a:quadBezTo>
                <a:quadBezTo>
                  <a:pt x="150812" y="118387"/>
                  <a:pt x="150812" y="115100"/>
                </a:quadBezTo>
                <a:lnTo>
                  <a:pt x="150812" y="39693"/>
                </a:lnTo>
                <a:quadBezTo>
                  <a:pt x="150812" y="36406"/>
                  <a:pt x="148488" y="34081"/>
                </a:quadBezTo>
                <a:quadBezTo>
                  <a:pt x="146163" y="31756"/>
                  <a:pt x="142875" y="31756"/>
                </a:quadBezTo>
                <a:lnTo>
                  <a:pt x="73025" y="31756"/>
                </a:lnTo>
                <a:quadBezTo>
                  <a:pt x="71445" y="31762"/>
                  <a:pt x="69987" y="31152"/>
                </a:quadBezTo>
                <a:quadBezTo>
                  <a:pt x="68525" y="30553"/>
                  <a:pt x="67412" y="29431"/>
                </a:quadBezTo>
                <a:lnTo>
                  <a:pt x="53862" y="15881"/>
                </a:lnTo>
                <a:lnTo>
                  <a:pt x="23813" y="15881"/>
                </a:lnTo>
                <a:quadBezTo>
                  <a:pt x="20525" y="15881"/>
                  <a:pt x="18200" y="18206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233267" y="8181879"/>
            <a:ext cx="143067" cy="95442"/>
          </a:xfrm>
          <a:custGeom>
            <a:avLst/>
            <a:gdLst/>
            <a:ahLst/>
            <a:cxnLst/>
            <a:rect l="0" t="0" r="r" b="b"/>
            <a:pathLst>
              <a:path w="143067" h="95442">
                <a:moveTo>
                  <a:pt x="135033" y="96"/>
                </a:moveTo>
                <a:lnTo>
                  <a:pt x="8033" y="96"/>
                </a:lnTo>
                <a:quadBezTo>
                  <a:pt x="4706" y="0"/>
                  <a:pt x="2421" y="2421"/>
                </a:quadBezTo>
                <a:quadBezTo>
                  <a:pt x="0" y="4706"/>
                  <a:pt x="96" y="8033"/>
                </a:quadBezTo>
                <a:quadBezTo>
                  <a:pt x="0" y="11361"/>
                  <a:pt x="2421" y="13646"/>
                </a:quadBezTo>
                <a:quadBezTo>
                  <a:pt x="4706" y="16067"/>
                  <a:pt x="8033" y="15971"/>
                </a:quadBezTo>
                <a:lnTo>
                  <a:pt x="135033" y="15971"/>
                </a:lnTo>
                <a:quadBezTo>
                  <a:pt x="138361" y="16067"/>
                  <a:pt x="140646" y="13646"/>
                </a:quadBezTo>
                <a:quadBezTo>
                  <a:pt x="143067" y="11361"/>
                  <a:pt x="142971" y="8033"/>
                </a:quadBezTo>
                <a:quadBezTo>
                  <a:pt x="143067" y="4706"/>
                  <a:pt x="140646" y="2421"/>
                </a:quadBezTo>
                <a:quadBezTo>
                  <a:pt x="138361" y="0"/>
                  <a:pt x="135033" y="96"/>
                </a:quadBezTo>
                <a:close/>
                <a:moveTo>
                  <a:pt x="135033" y="39783"/>
                </a:moveTo>
                <a:lnTo>
                  <a:pt x="8033" y="39783"/>
                </a:lnTo>
                <a:quadBezTo>
                  <a:pt x="4706" y="39688"/>
                  <a:pt x="2421" y="42108"/>
                </a:quadBezTo>
                <a:quadBezTo>
                  <a:pt x="0" y="44393"/>
                  <a:pt x="96" y="47721"/>
                </a:quadBezTo>
                <a:quadBezTo>
                  <a:pt x="0" y="51048"/>
                  <a:pt x="2421" y="53333"/>
                </a:quadBezTo>
                <a:quadBezTo>
                  <a:pt x="4706" y="55754"/>
                  <a:pt x="8033" y="55658"/>
                </a:quadBezTo>
                <a:lnTo>
                  <a:pt x="135033" y="55658"/>
                </a:lnTo>
                <a:quadBezTo>
                  <a:pt x="138361" y="55754"/>
                  <a:pt x="140646" y="53333"/>
                </a:quadBezTo>
                <a:quadBezTo>
                  <a:pt x="143067" y="51048"/>
                  <a:pt x="142971" y="47721"/>
                </a:quadBezTo>
                <a:quadBezTo>
                  <a:pt x="143067" y="44393"/>
                  <a:pt x="140646" y="42108"/>
                </a:quadBezTo>
                <a:quadBezTo>
                  <a:pt x="138361" y="39688"/>
                  <a:pt x="135033" y="39783"/>
                </a:quadBezTo>
                <a:close/>
                <a:moveTo>
                  <a:pt x="135033" y="79471"/>
                </a:moveTo>
                <a:lnTo>
                  <a:pt x="8033" y="79471"/>
                </a:lnTo>
                <a:quadBezTo>
                  <a:pt x="4706" y="79375"/>
                  <a:pt x="2421" y="81796"/>
                </a:quadBezTo>
                <a:quadBezTo>
                  <a:pt x="0" y="84081"/>
                  <a:pt x="96" y="87408"/>
                </a:quadBezTo>
                <a:quadBezTo>
                  <a:pt x="0" y="90736"/>
                  <a:pt x="2421" y="93021"/>
                </a:quadBezTo>
                <a:quadBezTo>
                  <a:pt x="4706" y="95442"/>
                  <a:pt x="8033" y="95346"/>
                </a:quadBezTo>
                <a:lnTo>
                  <a:pt x="135033" y="95346"/>
                </a:lnTo>
                <a:quadBezTo>
                  <a:pt x="138361" y="95442"/>
                  <a:pt x="140646" y="93021"/>
                </a:quadBezTo>
                <a:quadBezTo>
                  <a:pt x="143067" y="90736"/>
                  <a:pt x="142971" y="87408"/>
                </a:quadBezTo>
                <a:quadBezTo>
                  <a:pt x="143067" y="84081"/>
                  <a:pt x="140646" y="81796"/>
                </a:quadBezTo>
                <a:quadBezTo>
                  <a:pt x="138361" y="79375"/>
                  <a:pt x="135033" y="79471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Ellipse"/>
          <p:cNvSpPr/>
          <p:nvPr/>
        </p:nvSpPr>
        <p:spPr>
          <a:xfrm>
            <a:off x="267494" y="8172450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Ellipse"/>
          <p:cNvSpPr/>
          <p:nvPr/>
        </p:nvSpPr>
        <p:spPr>
          <a:xfrm>
            <a:off x="267494" y="8172450"/>
            <a:ext cx="34925" cy="34925"/>
          </a:xfrm>
          <a:prstGeom prst="ellipse">
            <a:avLst/>
          </a:prstGeom>
          <a:noFill/>
          <a:ln w="15875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Ellipse"/>
          <p:cNvSpPr/>
          <p:nvPr/>
        </p:nvSpPr>
        <p:spPr>
          <a:xfrm>
            <a:off x="311150" y="8212138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Ellipse"/>
          <p:cNvSpPr/>
          <p:nvPr/>
        </p:nvSpPr>
        <p:spPr>
          <a:xfrm>
            <a:off x="311150" y="8212138"/>
            <a:ext cx="34925" cy="34925"/>
          </a:xfrm>
          <a:prstGeom prst="ellipse">
            <a:avLst/>
          </a:prstGeom>
          <a:noFill/>
          <a:ln w="15875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Ellipse"/>
          <p:cNvSpPr/>
          <p:nvPr/>
        </p:nvSpPr>
        <p:spPr>
          <a:xfrm>
            <a:off x="255588" y="8251825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Ellipse"/>
          <p:cNvSpPr/>
          <p:nvPr/>
        </p:nvSpPr>
        <p:spPr>
          <a:xfrm>
            <a:off x="255588" y="8251825"/>
            <a:ext cx="34925" cy="34925"/>
          </a:xfrm>
          <a:prstGeom prst="ellipse">
            <a:avLst/>
          </a:prstGeom>
          <a:noFill/>
          <a:ln w="15875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609600" y="0"/>
            <a:ext cx="2667000" cy="85725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800100" y="257175"/>
            <a:ext cx="45720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200">
                <a:solidFill>
                  <a:srgbClr val="202124"/>
                </a:solidFill>
                <a:latin typeface="Inter Bold"/>
                <a:ea typeface="Inter Bold"/>
                <a:cs typeface="Inter Bold"/>
              </a:rPr>
              <a:t>服务器</a:t>
            </a:r>
          </a:p>
        </p:txBody>
      </p:sp>
      <p:sp>
        <p:nvSpPr>
          <p:cNvPr id="22" name="Rectangle"/>
          <p:cNvSpPr/>
          <p:nvPr/>
        </p:nvSpPr>
        <p:spPr>
          <a:xfrm>
            <a:off x="2524125" y="190500"/>
            <a:ext cx="561975" cy="314325"/>
          </a:xfrm>
          <a:prstGeom prst="roundRect">
            <a:avLst>
              <a:gd name="adj" fmla="val 24242"/>
            </a:avLst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ath"/>
          <p:cNvSpPr/>
          <p:nvPr/>
        </p:nvSpPr>
        <p:spPr>
          <a:xfrm>
            <a:off x="2615462" y="300887"/>
            <a:ext cx="103077" cy="103077"/>
          </a:xfrm>
          <a:custGeom>
            <a:avLst/>
            <a:gdLst/>
            <a:ahLst/>
            <a:cxnLst/>
            <a:rect l="0" t="0" r="r" b="b"/>
            <a:pathLst>
              <a:path w="103077" h="103077">
                <a:moveTo>
                  <a:pt x="60111" y="42966"/>
                </a:moveTo>
                <a:lnTo>
                  <a:pt x="60111" y="8676"/>
                </a:lnTo>
                <a:quadBezTo>
                  <a:pt x="60214" y="5082"/>
                  <a:pt x="57600" y="2614"/>
                </a:quadBezTo>
                <a:quadBezTo>
                  <a:pt x="55132" y="0"/>
                  <a:pt x="51538" y="103"/>
                </a:quadBezTo>
                <a:quadBezTo>
                  <a:pt x="47945" y="0"/>
                  <a:pt x="45477" y="2614"/>
                </a:quadBezTo>
                <a:quadBezTo>
                  <a:pt x="42862" y="5082"/>
                  <a:pt x="42966" y="8676"/>
                </a:quadBezTo>
                <a:lnTo>
                  <a:pt x="42966" y="42966"/>
                </a:lnTo>
                <a:lnTo>
                  <a:pt x="8676" y="42966"/>
                </a:lnTo>
                <a:quadBezTo>
                  <a:pt x="5082" y="42862"/>
                  <a:pt x="2614" y="45477"/>
                </a:quadBezTo>
                <a:quadBezTo>
                  <a:pt x="0" y="47945"/>
                  <a:pt x="103" y="51538"/>
                </a:quadBezTo>
                <a:quadBezTo>
                  <a:pt x="0" y="55132"/>
                  <a:pt x="2614" y="57600"/>
                </a:quadBezTo>
                <a:quadBezTo>
                  <a:pt x="5082" y="60214"/>
                  <a:pt x="8676" y="60111"/>
                </a:quadBezTo>
                <a:lnTo>
                  <a:pt x="42966" y="60111"/>
                </a:lnTo>
                <a:lnTo>
                  <a:pt x="42966" y="94401"/>
                </a:lnTo>
                <a:quadBezTo>
                  <a:pt x="42862" y="97995"/>
                  <a:pt x="45477" y="100463"/>
                </a:quadBezTo>
                <a:quadBezTo>
                  <a:pt x="47945" y="103077"/>
                  <a:pt x="51538" y="102973"/>
                </a:quadBezTo>
                <a:quadBezTo>
                  <a:pt x="55132" y="103077"/>
                  <a:pt x="57600" y="100463"/>
                </a:quadBezTo>
                <a:quadBezTo>
                  <a:pt x="60214" y="97995"/>
                  <a:pt x="60111" y="94401"/>
                </a:quadBezTo>
                <a:lnTo>
                  <a:pt x="60111" y="60111"/>
                </a:lnTo>
                <a:lnTo>
                  <a:pt x="94401" y="60111"/>
                </a:lnTo>
                <a:quadBezTo>
                  <a:pt x="97995" y="60214"/>
                  <a:pt x="100463" y="57600"/>
                </a:quadBezTo>
                <a:quadBezTo>
                  <a:pt x="103077" y="55132"/>
                  <a:pt x="102973" y="51538"/>
                </a:quadBezTo>
                <a:quadBezTo>
                  <a:pt x="103077" y="47945"/>
                  <a:pt x="100463" y="45477"/>
                </a:quadBezTo>
                <a:quadBezTo>
                  <a:pt x="97995" y="42862"/>
                  <a:pt x="94401" y="42966"/>
                </a:quadBezTo>
                <a:lnTo>
                  <a:pt x="60111" y="429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2771775" y="276225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latin typeface="Inter"/>
                <a:ea typeface="Inter"/>
                <a:cs typeface="Inter"/>
              </a:rPr>
              <a:t>新建</a:t>
            </a:r>
          </a:p>
        </p:txBody>
      </p:sp>
      <p:sp>
        <p:nvSpPr>
          <p:cNvPr id="25" name="Rectangle"/>
          <p:cNvSpPr/>
          <p:nvPr/>
        </p:nvSpPr>
        <p:spPr>
          <a:xfrm>
            <a:off x="800100" y="657225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Ellipse"/>
          <p:cNvSpPr/>
          <p:nvPr/>
        </p:nvSpPr>
        <p:spPr>
          <a:xfrm>
            <a:off x="939800" y="796925"/>
            <a:ext cx="88900" cy="88900"/>
          </a:xfrm>
          <a:prstGeom prst="ellipse">
            <a:avLst/>
          </a:prstGeom>
          <a:noFill/>
          <a:ln w="12700">
            <a:solidFill>
              <a:srgbClr val="9AA0A6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7" name="Path"/>
          <p:cNvSpPr/>
          <p:nvPr/>
        </p:nvSpPr>
        <p:spPr>
          <a:xfrm>
            <a:off x="1012748" y="869873"/>
            <a:ext cx="41428" cy="41428"/>
          </a:xfrm>
          <a:custGeom>
            <a:avLst/>
            <a:gdLst/>
            <a:ahLst/>
            <a:cxnLst/>
            <a:rect l="0" t="0" r="r" b="b"/>
            <a:pathLst>
              <a:path w="41428" h="41428">
                <a:moveTo>
                  <a:pt x="39492" y="30511"/>
                </a:moveTo>
                <a:lnTo>
                  <a:pt x="10917" y="1936"/>
                </a:lnTo>
                <a:quadBezTo>
                  <a:pt x="9089" y="0"/>
                  <a:pt x="6427" y="77"/>
                </a:quadBezTo>
                <a:quadBezTo>
                  <a:pt x="3765" y="0"/>
                  <a:pt x="1936" y="1936"/>
                </a:quadBezTo>
                <a:quadBezTo>
                  <a:pt x="0" y="3765"/>
                  <a:pt x="77" y="6427"/>
                </a:quadBezTo>
                <a:quadBezTo>
                  <a:pt x="0" y="9089"/>
                  <a:pt x="1936" y="10917"/>
                </a:quadBezTo>
                <a:lnTo>
                  <a:pt x="30511" y="39492"/>
                </a:lnTo>
                <a:quadBezTo>
                  <a:pt x="32340" y="41428"/>
                  <a:pt x="35002" y="41352"/>
                </a:quadBezTo>
                <a:quadBezTo>
                  <a:pt x="37664" y="41428"/>
                  <a:pt x="39492" y="39492"/>
                </a:quadBezTo>
                <a:quadBezTo>
                  <a:pt x="41428" y="37664"/>
                  <a:pt x="41352" y="35002"/>
                </a:quadBezTo>
                <a:quadBezTo>
                  <a:pt x="41428" y="32340"/>
                  <a:pt x="39492" y="30511"/>
                </a:quadBezTo>
                <a:close/>
              </a:path>
            </a:pathLst>
          </a:custGeom>
          <a:solidFill>
            <a:srgbClr val="9AA0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143000" y="771525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9AA0A6"/>
                </a:solidFill>
                <a:latin typeface="Inter"/>
                <a:ea typeface="Inter"/>
                <a:cs typeface="Inter"/>
              </a:rPr>
              <a:t>搜索服务器</a:t>
            </a:r>
          </a:p>
        </p:txBody>
      </p:sp>
      <p:sp>
        <p:nvSpPr>
          <p:cNvPr id="29" name="Rectangle"/>
          <p:cNvSpPr/>
          <p:nvPr/>
        </p:nvSpPr>
        <p:spPr>
          <a:xfrm>
            <a:off x="804863" y="661988"/>
            <a:ext cx="2276475" cy="371475"/>
          </a:xfrm>
          <a:prstGeom prst="roundRect">
            <a:avLst>
              <a:gd name="adj" fmla="val 19230"/>
            </a:avLst>
          </a:prstGeom>
          <a:noFill/>
          <a:ln w="9525">
            <a:solidFill>
              <a:srgbClr val="E5E7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800100" y="1190625"/>
            <a:ext cx="4191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生产环境</a:t>
            </a:r>
          </a:p>
        </p:txBody>
      </p:sp>
      <p:sp>
        <p:nvSpPr>
          <p:cNvPr id="31" name="Rectangle"/>
          <p:cNvSpPr/>
          <p:nvPr/>
        </p:nvSpPr>
        <p:spPr>
          <a:xfrm>
            <a:off x="800100" y="1352550"/>
            <a:ext cx="2286000" cy="542925"/>
          </a:xfrm>
          <a:prstGeom prst="roundRect">
            <a:avLst>
              <a:gd name="adj" fmla="val 17543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"/>
          <p:cNvSpPr/>
          <p:nvPr/>
        </p:nvSpPr>
        <p:spPr>
          <a:xfrm>
            <a:off x="914400" y="1590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1085850" y="1466850"/>
            <a:ext cx="76913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1A73E8"/>
                </a:solidFill>
                <a:latin typeface="Inter"/>
                <a:ea typeface="Inter"/>
                <a:cs typeface="Inter"/>
              </a:rPr>
              <a:t>prod-web-01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085850" y="1638300"/>
            <a:ext cx="88011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root@10.0.1.24</a:t>
            </a:r>
          </a:p>
        </p:txBody>
      </p:sp>
      <p:sp>
        <p:nvSpPr>
          <p:cNvPr id="35" name="Rectangle"/>
          <p:cNvSpPr/>
          <p:nvPr/>
        </p:nvSpPr>
        <p:spPr>
          <a:xfrm>
            <a:off x="804863" y="1357313"/>
            <a:ext cx="2276475" cy="533400"/>
          </a:xfrm>
          <a:prstGeom prst="roundRect">
            <a:avLst>
              <a:gd name="adj" fmla="val 16964"/>
            </a:avLst>
          </a:prstGeom>
          <a:noFill/>
          <a:ln w="9525">
            <a:solidFill>
              <a:srgbClr val="1A73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"/>
          <p:cNvSpPr/>
          <p:nvPr/>
        </p:nvSpPr>
        <p:spPr>
          <a:xfrm>
            <a:off x="800100" y="1933575"/>
            <a:ext cx="2286000" cy="542925"/>
          </a:xfrm>
          <a:prstGeom prst="roundRect">
            <a:avLst>
              <a:gd name="adj" fmla="val 175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"/>
          <p:cNvSpPr/>
          <p:nvPr/>
        </p:nvSpPr>
        <p:spPr>
          <a:xfrm>
            <a:off x="914400" y="2171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1085850" y="2047875"/>
            <a:ext cx="6972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202124"/>
                </a:solidFill>
                <a:latin typeface="Inter"/>
                <a:ea typeface="Inter"/>
                <a:cs typeface="Inter"/>
              </a:rPr>
              <a:t>prod-db-02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1085850" y="2219325"/>
            <a:ext cx="88011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root@10.0.1.35</a:t>
            </a:r>
          </a:p>
        </p:txBody>
      </p:sp>
      <p:sp>
        <p:nvSpPr>
          <p:cNvPr id="40" name="Rectangle"/>
          <p:cNvSpPr/>
          <p:nvPr/>
        </p:nvSpPr>
        <p:spPr>
          <a:xfrm>
            <a:off x="800100" y="2514600"/>
            <a:ext cx="2286000" cy="542925"/>
          </a:xfrm>
          <a:prstGeom prst="roundRect">
            <a:avLst>
              <a:gd name="adj" fmla="val 175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"/>
          <p:cNvSpPr/>
          <p:nvPr/>
        </p:nvSpPr>
        <p:spPr>
          <a:xfrm>
            <a:off x="914400" y="2752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1085850" y="2628900"/>
            <a:ext cx="7704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9AA0A6"/>
                </a:solidFill>
                <a:latin typeface="Inter"/>
                <a:ea typeface="Inter"/>
                <a:cs typeface="Inter"/>
              </a:rPr>
              <a:t>prod-backup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1085850" y="2800350"/>
            <a:ext cx="88011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0A6"/>
                </a:solidFill>
                <a:latin typeface="JetBrains Mono"/>
                <a:ea typeface="JetBrains Mono"/>
                <a:cs typeface="JetBrains Mono"/>
              </a:rPr>
              <a:t>root@10.0.2.10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800100" y="3095625"/>
            <a:ext cx="4191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开发测试</a:t>
            </a:r>
          </a:p>
        </p:txBody>
      </p:sp>
      <p:sp>
        <p:nvSpPr>
          <p:cNvPr id="45" name="Rectangle"/>
          <p:cNvSpPr/>
          <p:nvPr/>
        </p:nvSpPr>
        <p:spPr>
          <a:xfrm>
            <a:off x="800100" y="3257550"/>
            <a:ext cx="2286000" cy="542925"/>
          </a:xfrm>
          <a:prstGeom prst="roundRect">
            <a:avLst>
              <a:gd name="adj" fmla="val 175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"/>
          <p:cNvSpPr/>
          <p:nvPr/>
        </p:nvSpPr>
        <p:spPr>
          <a:xfrm>
            <a:off x="914400" y="3495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1085850" y="3371850"/>
            <a:ext cx="7041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202124"/>
                </a:solidFill>
                <a:latin typeface="Inter"/>
                <a:ea typeface="Inter"/>
                <a:cs typeface="Inter"/>
              </a:rPr>
              <a:t>dev-test-02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085850" y="3543300"/>
            <a:ext cx="106870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dev@192.168.1.100</a:t>
            </a:r>
          </a:p>
        </p:txBody>
      </p:sp>
      <p:sp>
        <p:nvSpPr>
          <p:cNvPr id="49" name="Rectangle"/>
          <p:cNvSpPr/>
          <p:nvPr/>
        </p:nvSpPr>
        <p:spPr>
          <a:xfrm>
            <a:off x="800100" y="3838575"/>
            <a:ext cx="2286000" cy="542925"/>
          </a:xfrm>
          <a:prstGeom prst="roundRect">
            <a:avLst>
              <a:gd name="adj" fmla="val 175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"/>
          <p:cNvSpPr/>
          <p:nvPr/>
        </p:nvSpPr>
        <p:spPr>
          <a:xfrm>
            <a:off x="914400" y="4076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1085850" y="3952875"/>
            <a:ext cx="5604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202124"/>
                </a:solidFill>
                <a:latin typeface="Inter"/>
                <a:ea typeface="Inter"/>
                <a:cs typeface="Inter"/>
              </a:rPr>
              <a:t>dev-build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1085850" y="4124325"/>
            <a:ext cx="100584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dev@192.168.1.88</a:t>
            </a:r>
          </a:p>
        </p:txBody>
      </p:sp>
      <p:sp>
        <p:nvSpPr>
          <p:cNvPr id="53" name="TextBox"/>
          <p:cNvSpPr txBox="1"/>
          <p:nvPr/>
        </p:nvSpPr>
        <p:spPr>
          <a:xfrm>
            <a:off x="3733800" y="457200"/>
            <a:ext cx="1485900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202124"/>
                </a:solidFill>
                <a:latin typeface="Inter Bold"/>
                <a:ea typeface="Inter Bold"/>
                <a:cs typeface="Inter Bold"/>
              </a:rPr>
              <a:t>连接到服务器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3733800" y="1019175"/>
            <a:ext cx="32004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5F6368"/>
                </a:solidFill>
                <a:latin typeface="Inter"/>
                <a:ea typeface="Inter"/>
                <a:cs typeface="Inter"/>
              </a:rPr>
              <a:t>输入主机地址快速连接，或从左侧选择已保存的服务器</a:t>
            </a:r>
          </a:p>
        </p:txBody>
      </p:sp>
      <p:sp>
        <p:nvSpPr>
          <p:cNvPr id="55" name="Rectangle"/>
          <p:cNvSpPr/>
          <p:nvPr/>
        </p:nvSpPr>
        <p:spPr>
          <a:xfrm>
            <a:off x="3733800" y="1447800"/>
            <a:ext cx="9525000" cy="1495425"/>
          </a:xfrm>
          <a:prstGeom prst="roundRect">
            <a:avLst>
              <a:gd name="adj" fmla="val 10191"/>
            </a:avLst>
          </a:prstGeom>
          <a:solidFill>
            <a:srgbClr val="FFFFFF"/>
          </a:solidFill>
          <a:ln>
            <a:noFill/>
          </a:ln>
          <a:effectLst>
            <a:outerShdw blurRad="76200" dist="38100" dir="5400000" algn="ctr" rotWithShape="0">
              <a:srgbClr val="1A264D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3962400" y="1676400"/>
            <a:ext cx="5334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202124"/>
                </a:solidFill>
                <a:effectLst>
                  <a:outerShdw blurRad="76200" dist="38100" dir="5400000" algn="ctr" rotWithShape="0">
                    <a:srgbClr val="1A264D">
                      <a:alpha val="5000"/>
                    </a:srgbClr>
                  </a:outerShdw>
                </a:effectLst>
                <a:latin typeface="Inter Bold"/>
                <a:ea typeface="Inter Bold"/>
                <a:cs typeface="Inter Bold"/>
              </a:rPr>
              <a:t>快速连接</a:t>
            </a:r>
          </a:p>
        </p:txBody>
      </p:sp>
      <p:sp>
        <p:nvSpPr>
          <p:cNvPr id="57" name="Rectangle"/>
          <p:cNvSpPr/>
          <p:nvPr/>
        </p:nvSpPr>
        <p:spPr>
          <a:xfrm>
            <a:off x="3962400" y="1990725"/>
            <a:ext cx="7162800" cy="409575"/>
          </a:xfrm>
          <a:prstGeom prst="roundRect">
            <a:avLst>
              <a:gd name="adj" fmla="val 18604"/>
            </a:avLst>
          </a:prstGeom>
          <a:solidFill>
            <a:srgbClr val="F7F8FC"/>
          </a:solidFill>
          <a:ln>
            <a:noFill/>
          </a:ln>
          <a:effectLst>
            <a:outerShdw blurRad="76200" dist="38100" dir="5400000" algn="ctr" rotWithShape="0">
              <a:srgbClr val="1A264D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Box"/>
          <p:cNvSpPr txBox="1"/>
          <p:nvPr/>
        </p:nvSpPr>
        <p:spPr>
          <a:xfrm>
            <a:off x="4086225" y="2114550"/>
            <a:ext cx="230314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9AA0A6"/>
                </a:solidFill>
                <a:effectLst>
                  <a:outerShdw blurRad="76200" dist="38100" dir="5400000" algn="ctr" rotWithShape="0">
                    <a:srgbClr val="1A264D">
                      <a:alpha val="5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用户名@主机地址，如 root@10.0.1.24</a:t>
            </a:r>
          </a:p>
        </p:txBody>
      </p:sp>
      <p:sp>
        <p:nvSpPr>
          <p:cNvPr id="59" name="Rectangle"/>
          <p:cNvSpPr/>
          <p:nvPr/>
        </p:nvSpPr>
        <p:spPr>
          <a:xfrm>
            <a:off x="3967163" y="1995488"/>
            <a:ext cx="7153275" cy="400050"/>
          </a:xfrm>
          <a:prstGeom prst="roundRect">
            <a:avLst>
              <a:gd name="adj" fmla="val 17857"/>
            </a:avLst>
          </a:prstGeom>
          <a:noFill/>
          <a:ln w="9525">
            <a:solidFill>
              <a:srgbClr val="E5E7EB"/>
            </a:solidFill>
            <a:miter lim="400000"/>
          </a:ln>
          <a:effectLst>
            <a:outerShdw blurRad="76200" dist="38100" dir="5400000" algn="ctr" rotWithShape="0">
              <a:srgbClr val="1A264D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Rectangle"/>
          <p:cNvSpPr/>
          <p:nvPr/>
        </p:nvSpPr>
        <p:spPr>
          <a:xfrm>
            <a:off x="11239500" y="1990725"/>
            <a:ext cx="1143000" cy="409575"/>
          </a:xfrm>
          <a:prstGeom prst="roundRect">
            <a:avLst>
              <a:gd name="adj" fmla="val 18604"/>
            </a:avLst>
          </a:prstGeom>
          <a:solidFill>
            <a:srgbClr val="F7F8FC"/>
          </a:solidFill>
          <a:ln>
            <a:noFill/>
          </a:ln>
          <a:effectLst>
            <a:outerShdw blurRad="76200" dist="38100" dir="5400000" algn="ctr" rotWithShape="0">
              <a:srgbClr val="1A264D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Box"/>
          <p:cNvSpPr txBox="1"/>
          <p:nvPr/>
        </p:nvSpPr>
        <p:spPr>
          <a:xfrm>
            <a:off x="11363325" y="2114550"/>
            <a:ext cx="5448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9AA0A6"/>
                </a:solidFill>
                <a:effectLst>
                  <a:outerShdw blurRad="76200" dist="38100" dir="5400000" algn="ctr" rotWithShape="0">
                    <a:srgbClr val="1A264D">
                      <a:alpha val="5000"/>
                    </a:srgbClr>
                  </a:outerShdw>
                </a:effectLst>
                <a:latin typeface="JetBrains Mono"/>
                <a:ea typeface="JetBrains Mono"/>
                <a:cs typeface="JetBrains Mono"/>
              </a:rPr>
              <a:t>端口  22</a:t>
            </a:r>
          </a:p>
        </p:txBody>
      </p:sp>
      <p:sp>
        <p:nvSpPr>
          <p:cNvPr id="62" name="Rectangle"/>
          <p:cNvSpPr/>
          <p:nvPr/>
        </p:nvSpPr>
        <p:spPr>
          <a:xfrm>
            <a:off x="11244263" y="1995488"/>
            <a:ext cx="1133475" cy="400050"/>
          </a:xfrm>
          <a:prstGeom prst="roundRect">
            <a:avLst>
              <a:gd name="adj" fmla="val 17857"/>
            </a:avLst>
          </a:prstGeom>
          <a:noFill/>
          <a:ln w="9525">
            <a:solidFill>
              <a:srgbClr val="E5E7EB"/>
            </a:solidFill>
            <a:miter lim="400000"/>
          </a:ln>
          <a:effectLst>
            <a:outerShdw blurRad="76200" dist="38100" dir="5400000" algn="ctr" rotWithShape="0">
              <a:srgbClr val="1A264D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Rectangle"/>
          <p:cNvSpPr/>
          <p:nvPr/>
        </p:nvSpPr>
        <p:spPr>
          <a:xfrm>
            <a:off x="12496800" y="1990725"/>
            <a:ext cx="533400" cy="428625"/>
          </a:xfrm>
          <a:prstGeom prst="roundRect">
            <a:avLst>
              <a:gd name="adj" fmla="val 17777"/>
            </a:avLst>
          </a:prstGeom>
          <a:solidFill>
            <a:srgbClr val="1A73E8"/>
          </a:solidFill>
          <a:ln>
            <a:noFill/>
          </a:ln>
          <a:effectLst>
            <a:outerShdw blurRad="76200" dist="38100" dir="5400000" algn="ctr" rotWithShape="0">
              <a:srgbClr val="1A264D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Box"/>
          <p:cNvSpPr txBox="1"/>
          <p:nvPr/>
        </p:nvSpPr>
        <p:spPr>
          <a:xfrm>
            <a:off x="12630150" y="2124075"/>
            <a:ext cx="2667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FFFFFF"/>
                </a:solidFill>
                <a:effectLst>
                  <a:outerShdw blurRad="76200" dist="38100" dir="5400000" algn="ctr" rotWithShape="0">
                    <a:srgbClr val="1A264D">
                      <a:alpha val="5000"/>
                    </a:srgbClr>
                  </a:outerShdw>
                </a:effectLst>
                <a:latin typeface="Inter"/>
                <a:ea typeface="Inter"/>
                <a:cs typeface="Inter"/>
              </a:rPr>
              <a:t>连接</a:t>
            </a:r>
          </a:p>
        </p:txBody>
      </p:sp>
      <p:sp>
        <p:nvSpPr>
          <p:cNvPr id="65" name="TextBox"/>
          <p:cNvSpPr txBox="1"/>
          <p:nvPr/>
        </p:nvSpPr>
        <p:spPr>
          <a:xfrm>
            <a:off x="3962400" y="2571750"/>
            <a:ext cx="2573089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0A6"/>
                </a:solidFill>
                <a:effectLst>
                  <a:outerShdw blurRad="76200" dist="38100" dir="5400000" algn="ctr" rotWithShape="0">
                    <a:srgbClr val="1A264D">
                      <a:alpha val="5000"/>
                    </a:srgbClr>
                  </a:outerShdw>
                </a:effectLst>
                <a:latin typeface="Inter"/>
                <a:ea typeface="Inter"/>
                <a:cs typeface="Inter"/>
              </a:rPr>
              <a:t>支持 SSH 密钥 / 密码登录，密钥可从本机一键导入</a:t>
            </a:r>
          </a:p>
        </p:txBody>
      </p:sp>
      <p:sp>
        <p:nvSpPr>
          <p:cNvPr id="66" name="Rectangle"/>
          <p:cNvSpPr/>
          <p:nvPr/>
        </p:nvSpPr>
        <p:spPr>
          <a:xfrm>
            <a:off x="3738563" y="1452563"/>
            <a:ext cx="9515475" cy="1485900"/>
          </a:xfrm>
          <a:prstGeom prst="roundRect">
            <a:avLst>
              <a:gd name="adj" fmla="val 9935"/>
            </a:avLst>
          </a:prstGeom>
          <a:noFill/>
          <a:ln w="9525">
            <a:solidFill>
              <a:srgbClr val="E5E7EB"/>
            </a:solidFill>
            <a:miter lim="400000"/>
          </a:ln>
          <a:effectLst>
            <a:outerShdw blurRad="76200" dist="38100" dir="5400000" algn="ctr" rotWithShape="0">
              <a:srgbClr val="1A264D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Box"/>
          <p:cNvSpPr txBox="1"/>
          <p:nvPr/>
        </p:nvSpPr>
        <p:spPr>
          <a:xfrm>
            <a:off x="3733800" y="3209925"/>
            <a:ext cx="5334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050">
                <a:solidFill>
                  <a:srgbClr val="202124"/>
                </a:solidFill>
                <a:latin typeface="Inter Bold"/>
                <a:ea typeface="Inter Bold"/>
                <a:cs typeface="Inter Bold"/>
              </a:rPr>
              <a:t>最近会话</a:t>
            </a:r>
          </a:p>
        </p:txBody>
      </p:sp>
      <p:sp>
        <p:nvSpPr>
          <p:cNvPr id="68" name="Rectangle"/>
          <p:cNvSpPr/>
          <p:nvPr/>
        </p:nvSpPr>
        <p:spPr>
          <a:xfrm>
            <a:off x="3733800" y="3638550"/>
            <a:ext cx="9525000" cy="619125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"/>
          <p:cNvSpPr/>
          <p:nvPr/>
        </p:nvSpPr>
        <p:spPr>
          <a:xfrm>
            <a:off x="3886200" y="3914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Box"/>
          <p:cNvSpPr txBox="1"/>
          <p:nvPr/>
        </p:nvSpPr>
        <p:spPr>
          <a:xfrm>
            <a:off x="4076700" y="3790950"/>
            <a:ext cx="168288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202124"/>
                </a:solidFill>
                <a:latin typeface="Inter"/>
                <a:ea typeface="Inter"/>
                <a:cs typeface="Inter"/>
              </a:rPr>
              <a:t>prod-web-01  ·  ~/deploy.log</a:t>
            </a:r>
          </a:p>
        </p:txBody>
      </p:sp>
      <p:sp>
        <p:nvSpPr>
          <p:cNvPr id="71" name="TextBox"/>
          <p:cNvSpPr txBox="1"/>
          <p:nvPr/>
        </p:nvSpPr>
        <p:spPr>
          <a:xfrm>
            <a:off x="4076700" y="3962400"/>
            <a:ext cx="2011681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0A6"/>
                </a:solidFill>
                <a:latin typeface="JetBrains Mono"/>
                <a:ea typeface="JetBrains Mono"/>
                <a:cs typeface="JetBrains Mono"/>
              </a:rPr>
              <a:t>tail -f /var/log/nginx/error.log</a:t>
            </a:r>
          </a:p>
        </p:txBody>
      </p:sp>
      <p:sp>
        <p:nvSpPr>
          <p:cNvPr id="72" name="TextBox"/>
          <p:cNvSpPr txBox="1"/>
          <p:nvPr/>
        </p:nvSpPr>
        <p:spPr>
          <a:xfrm>
            <a:off x="12544425" y="3876675"/>
            <a:ext cx="55431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0A6"/>
                </a:solidFill>
                <a:latin typeface="Inter"/>
                <a:ea typeface="Inter"/>
                <a:cs typeface="Inter"/>
              </a:rPr>
              <a:t>今天 14:32</a:t>
            </a:r>
          </a:p>
        </p:txBody>
      </p:sp>
      <p:sp>
        <p:nvSpPr>
          <p:cNvPr id="73" name="Rectangle"/>
          <p:cNvSpPr/>
          <p:nvPr/>
        </p:nvSpPr>
        <p:spPr>
          <a:xfrm>
            <a:off x="3738563" y="3643313"/>
            <a:ext cx="9515475" cy="609600"/>
          </a:xfrm>
          <a:prstGeom prst="roundRect">
            <a:avLst>
              <a:gd name="adj" fmla="val 17968"/>
            </a:avLst>
          </a:prstGeom>
          <a:noFill/>
          <a:ln w="9525">
            <a:solidFill>
              <a:srgbClr val="E5E7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"/>
          <p:cNvSpPr/>
          <p:nvPr/>
        </p:nvSpPr>
        <p:spPr>
          <a:xfrm>
            <a:off x="3733800" y="4524375"/>
            <a:ext cx="9525000" cy="619125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"/>
          <p:cNvSpPr/>
          <p:nvPr/>
        </p:nvSpPr>
        <p:spPr>
          <a:xfrm>
            <a:off x="3886200" y="48006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"/>
          <p:cNvSpPr txBox="1"/>
          <p:nvPr/>
        </p:nvSpPr>
        <p:spPr>
          <a:xfrm>
            <a:off x="4076700" y="4676775"/>
            <a:ext cx="17250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202124"/>
                </a:solidFill>
                <a:latin typeface="Inter"/>
                <a:ea typeface="Inter"/>
                <a:cs typeface="Inter"/>
              </a:rPr>
              <a:t>prod-db-02  ·  /var/log/mysql</a:t>
            </a:r>
          </a:p>
        </p:txBody>
      </p:sp>
      <p:sp>
        <p:nvSpPr>
          <p:cNvPr id="77" name="TextBox"/>
          <p:cNvSpPr txBox="1"/>
          <p:nvPr/>
        </p:nvSpPr>
        <p:spPr>
          <a:xfrm>
            <a:off x="4076700" y="4848225"/>
            <a:ext cx="150876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0A6"/>
                </a:solidFill>
                <a:latin typeface="JetBrains Mono"/>
                <a:ea typeface="JetBrains Mono"/>
                <a:cs typeface="JetBrains Mono"/>
              </a:rPr>
              <a:t>docker logs -f mysql:8.0</a:t>
            </a:r>
          </a:p>
        </p:txBody>
      </p:sp>
      <p:sp>
        <p:nvSpPr>
          <p:cNvPr id="78" name="TextBox"/>
          <p:cNvSpPr txBox="1"/>
          <p:nvPr/>
        </p:nvSpPr>
        <p:spPr>
          <a:xfrm>
            <a:off x="12553950" y="4762500"/>
            <a:ext cx="550962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0A6"/>
                </a:solidFill>
                <a:latin typeface="Inter"/>
                <a:ea typeface="Inter"/>
                <a:cs typeface="Inter"/>
              </a:rPr>
              <a:t>今天 09:15</a:t>
            </a:r>
          </a:p>
        </p:txBody>
      </p:sp>
      <p:sp>
        <p:nvSpPr>
          <p:cNvPr id="79" name="Rectangle"/>
          <p:cNvSpPr/>
          <p:nvPr/>
        </p:nvSpPr>
        <p:spPr>
          <a:xfrm>
            <a:off x="3738563" y="4529138"/>
            <a:ext cx="9515475" cy="609600"/>
          </a:xfrm>
          <a:prstGeom prst="roundRect">
            <a:avLst>
              <a:gd name="adj" fmla="val 17968"/>
            </a:avLst>
          </a:prstGeom>
          <a:noFill/>
          <a:ln w="9525">
            <a:solidFill>
              <a:srgbClr val="E5E7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"/>
          <p:cNvSpPr/>
          <p:nvPr/>
        </p:nvSpPr>
        <p:spPr>
          <a:xfrm>
            <a:off x="3733800" y="5410200"/>
            <a:ext cx="9525000" cy="619125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"/>
          <p:cNvSpPr/>
          <p:nvPr/>
        </p:nvSpPr>
        <p:spPr>
          <a:xfrm>
            <a:off x="3886200" y="56864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Box"/>
          <p:cNvSpPr txBox="1"/>
          <p:nvPr/>
        </p:nvSpPr>
        <p:spPr>
          <a:xfrm>
            <a:off x="4076700" y="5562600"/>
            <a:ext cx="17059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202124"/>
                </a:solidFill>
                <a:latin typeface="Inter"/>
                <a:ea typeface="Inter"/>
                <a:cs typeface="Inter"/>
              </a:rPr>
              <a:t>dev-test-02  ·  ~/projects/api</a:t>
            </a:r>
          </a:p>
        </p:txBody>
      </p:sp>
      <p:sp>
        <p:nvSpPr>
          <p:cNvPr id="83" name="TextBox"/>
          <p:cNvSpPr txBox="1"/>
          <p:nvPr/>
        </p:nvSpPr>
        <p:spPr>
          <a:xfrm>
            <a:off x="4076700" y="5734050"/>
            <a:ext cx="69151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0A6"/>
                </a:solidFill>
                <a:latin typeface="JetBrains Mono"/>
                <a:ea typeface="JetBrains Mono"/>
                <a:cs typeface="JetBrains Mono"/>
              </a:rPr>
              <a:t>npm run dev</a:t>
            </a:r>
          </a:p>
        </p:txBody>
      </p:sp>
      <p:sp>
        <p:nvSpPr>
          <p:cNvPr id="84" name="TextBox"/>
          <p:cNvSpPr txBox="1"/>
          <p:nvPr/>
        </p:nvSpPr>
        <p:spPr>
          <a:xfrm>
            <a:off x="12525375" y="5648325"/>
            <a:ext cx="579034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0A6"/>
                </a:solidFill>
                <a:latin typeface="Inter"/>
                <a:ea typeface="Inter"/>
                <a:cs typeface="Inter"/>
              </a:rPr>
              <a:t>昨天 22:40</a:t>
            </a:r>
          </a:p>
        </p:txBody>
      </p:sp>
      <p:sp>
        <p:nvSpPr>
          <p:cNvPr id="85" name="Rectangle"/>
          <p:cNvSpPr/>
          <p:nvPr/>
        </p:nvSpPr>
        <p:spPr>
          <a:xfrm>
            <a:off x="3738563" y="5414963"/>
            <a:ext cx="9515475" cy="609600"/>
          </a:xfrm>
          <a:prstGeom prst="roundRect">
            <a:avLst>
              <a:gd name="adj" fmla="val 17968"/>
            </a:avLst>
          </a:prstGeom>
          <a:noFill/>
          <a:ln w="9525">
            <a:solidFill>
              <a:srgbClr val="E5E7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609600" cy="857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"/>
          <p:cNvSpPr/>
          <p:nvPr/>
        </p:nvSpPr>
        <p:spPr>
          <a:xfrm>
            <a:off x="114300" y="152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ath"/>
          <p:cNvSpPr/>
          <p:nvPr/>
        </p:nvSpPr>
        <p:spPr>
          <a:xfrm>
            <a:off x="225593" y="273218"/>
            <a:ext cx="82214" cy="139364"/>
          </a:xfrm>
          <a:custGeom>
            <a:avLst/>
            <a:gdLst/>
            <a:ahLst/>
            <a:cxnLst/>
            <a:rect l="0" t="0" r="r" b="b"/>
            <a:pathLst>
              <a:path w="82214" h="139364">
                <a:moveTo>
                  <a:pt x="78438" y="60926"/>
                </a:moveTo>
                <a:lnTo>
                  <a:pt x="21288" y="3776"/>
                </a:lnTo>
                <a:quadBezTo>
                  <a:pt x="17723" y="0"/>
                  <a:pt x="12532" y="149"/>
                </a:quadBezTo>
                <a:quadBezTo>
                  <a:pt x="7341" y="0"/>
                  <a:pt x="3776" y="3776"/>
                </a:quadBezTo>
                <a:quadBezTo>
                  <a:pt x="0" y="7341"/>
                  <a:pt x="149" y="12532"/>
                </a:quadBezTo>
                <a:quadBezTo>
                  <a:pt x="0" y="17723"/>
                  <a:pt x="3776" y="21288"/>
                </a:quadBezTo>
                <a:lnTo>
                  <a:pt x="52170" y="69682"/>
                </a:lnTo>
                <a:lnTo>
                  <a:pt x="3776" y="118076"/>
                </a:lnTo>
                <a:quadBezTo>
                  <a:pt x="0" y="121641"/>
                  <a:pt x="149" y="126832"/>
                </a:quadBezTo>
                <a:quadBezTo>
                  <a:pt x="0" y="132023"/>
                  <a:pt x="3776" y="135588"/>
                </a:quadBezTo>
                <a:quadBezTo>
                  <a:pt x="7341" y="139364"/>
                  <a:pt x="12532" y="139214"/>
                </a:quadBezTo>
                <a:quadBezTo>
                  <a:pt x="17723" y="139364"/>
                  <a:pt x="21288" y="135588"/>
                </a:quadBezTo>
                <a:lnTo>
                  <a:pt x="78438" y="78438"/>
                </a:lnTo>
                <a:quadBezTo>
                  <a:pt x="82214" y="74873"/>
                  <a:pt x="82064" y="69682"/>
                </a:quadBezTo>
                <a:quadBezTo>
                  <a:pt x="82214" y="64491"/>
                  <a:pt x="78438" y="60926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306556" y="387518"/>
            <a:ext cx="86976" cy="25064"/>
          </a:xfrm>
          <a:custGeom>
            <a:avLst/>
            <a:gdLst/>
            <a:ahLst/>
            <a:cxnLst/>
            <a:rect l="0" t="0" r="r" b="b"/>
            <a:pathLst>
              <a:path w="86976" h="25064">
                <a:moveTo>
                  <a:pt x="74444" y="149"/>
                </a:moveTo>
                <a:lnTo>
                  <a:pt x="12532" y="149"/>
                </a:lnTo>
                <a:quadBezTo>
                  <a:pt x="7341" y="0"/>
                  <a:pt x="3776" y="3776"/>
                </a:quadBezTo>
                <a:quadBezTo>
                  <a:pt x="0" y="7341"/>
                  <a:pt x="149" y="12532"/>
                </a:quadBezTo>
                <a:quadBezTo>
                  <a:pt x="0" y="17723"/>
                  <a:pt x="3776" y="21288"/>
                </a:quadBezTo>
                <a:quadBezTo>
                  <a:pt x="7341" y="25064"/>
                  <a:pt x="12532" y="24914"/>
                </a:quadBezTo>
                <a:lnTo>
                  <a:pt x="74444" y="24914"/>
                </a:lnTo>
                <a:quadBezTo>
                  <a:pt x="79635" y="25064"/>
                  <a:pt x="83200" y="21288"/>
                </a:quadBezTo>
                <a:quadBezTo>
                  <a:pt x="86976" y="17723"/>
                  <a:pt x="86827" y="12532"/>
                </a:quadBezTo>
                <a:quadBezTo>
                  <a:pt x="86976" y="7341"/>
                  <a:pt x="83200" y="3776"/>
                </a:quadBezTo>
                <a:quadBezTo>
                  <a:pt x="79635" y="0"/>
                  <a:pt x="74444" y="149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14300" y="7620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37331" y="889000"/>
            <a:ext cx="134937" cy="55562"/>
          </a:xfrm>
          <a:prstGeom prst="roundRect">
            <a:avLst>
              <a:gd name="adj" fmla="val 28571"/>
            </a:avLst>
          </a:prstGeom>
          <a:noFill/>
          <a:ln w="15875">
            <a:solidFill>
              <a:srgbClr val="1A73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37331" y="960438"/>
            <a:ext cx="134937" cy="55562"/>
          </a:xfrm>
          <a:prstGeom prst="roundRect">
            <a:avLst>
              <a:gd name="adj" fmla="val 28571"/>
            </a:avLst>
          </a:prstGeom>
          <a:noFill/>
          <a:ln w="15875">
            <a:solidFill>
              <a:srgbClr val="1A73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258762" y="906462"/>
            <a:ext cx="20637" cy="20637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258762" y="977900"/>
            <a:ext cx="20637" cy="20637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ath"/>
          <p:cNvSpPr/>
          <p:nvPr/>
        </p:nvSpPr>
        <p:spPr>
          <a:xfrm>
            <a:off x="229394" y="1365244"/>
            <a:ext cx="166687" cy="138912"/>
          </a:xfrm>
          <a:custGeom>
            <a:avLst/>
            <a:gdLst/>
            <a:ahLst/>
            <a:cxnLst/>
            <a:rect l="0" t="0" r="r" b="b"/>
            <a:pathLst>
              <a:path w="166687" h="138912">
                <a:moveTo>
                  <a:pt x="6975" y="6980"/>
                </a:moveTo>
                <a:quadBezTo>
                  <a:pt x="13949" y="6"/>
                  <a:pt x="23812" y="6"/>
                </a:quadBezTo>
                <a:lnTo>
                  <a:pt x="57150" y="6"/>
                </a:lnTo>
                <a:quadBezTo>
                  <a:pt x="58730" y="0"/>
                  <a:pt x="60188" y="610"/>
                </a:quadBezTo>
                <a:quadBezTo>
                  <a:pt x="61650" y="1209"/>
                  <a:pt x="62763" y="2331"/>
                </a:quadBezTo>
                <a:lnTo>
                  <a:pt x="76313" y="15881"/>
                </a:lnTo>
                <a:lnTo>
                  <a:pt x="142875" y="15881"/>
                </a:lnTo>
                <a:quadBezTo>
                  <a:pt x="152738" y="15881"/>
                  <a:pt x="159713" y="22855"/>
                </a:quadBezTo>
                <a:quadBezTo>
                  <a:pt x="166687" y="29830"/>
                  <a:pt x="166687" y="39693"/>
                </a:quadBezTo>
                <a:lnTo>
                  <a:pt x="166687" y="115100"/>
                </a:lnTo>
                <a:quadBezTo>
                  <a:pt x="166687" y="124963"/>
                  <a:pt x="159713" y="131938"/>
                </a:quadBezTo>
                <a:quadBezTo>
                  <a:pt x="152738" y="138912"/>
                  <a:pt x="142875" y="138912"/>
                </a:quadBezTo>
                <a:lnTo>
                  <a:pt x="23812" y="138912"/>
                </a:lnTo>
                <a:quadBezTo>
                  <a:pt x="13949" y="138912"/>
                  <a:pt x="6975" y="131938"/>
                </a:quadBezTo>
                <a:quadBezTo>
                  <a:pt x="0" y="124963"/>
                  <a:pt x="0" y="115100"/>
                </a:quadBezTo>
                <a:lnTo>
                  <a:pt x="0" y="23818"/>
                </a:lnTo>
                <a:quadBezTo>
                  <a:pt x="0" y="13955"/>
                  <a:pt x="6975" y="6980"/>
                </a:quadBezTo>
                <a:lnTo>
                  <a:pt x="6975" y="6980"/>
                </a:lnTo>
                <a:close/>
                <a:moveTo>
                  <a:pt x="18200" y="18206"/>
                </a:moveTo>
                <a:quadBezTo>
                  <a:pt x="15875" y="20531"/>
                  <a:pt x="15875" y="23818"/>
                </a:quadBezTo>
                <a:lnTo>
                  <a:pt x="15875" y="115100"/>
                </a:lnTo>
                <a:quadBezTo>
                  <a:pt x="15875" y="118387"/>
                  <a:pt x="18200" y="120712"/>
                </a:quadBezTo>
                <a:quadBezTo>
                  <a:pt x="20525" y="123037"/>
                  <a:pt x="23812" y="123037"/>
                </a:quadBezTo>
                <a:lnTo>
                  <a:pt x="142875" y="123037"/>
                </a:lnTo>
                <a:quadBezTo>
                  <a:pt x="146163" y="123037"/>
                  <a:pt x="148488" y="120712"/>
                </a:quadBezTo>
                <a:quadBezTo>
                  <a:pt x="150812" y="118387"/>
                  <a:pt x="150812" y="115100"/>
                </a:quadBezTo>
                <a:lnTo>
                  <a:pt x="150812" y="39693"/>
                </a:lnTo>
                <a:quadBezTo>
                  <a:pt x="150812" y="36406"/>
                  <a:pt x="148488" y="34081"/>
                </a:quadBezTo>
                <a:quadBezTo>
                  <a:pt x="146163" y="31756"/>
                  <a:pt x="142875" y="31756"/>
                </a:quadBezTo>
                <a:lnTo>
                  <a:pt x="73025" y="31756"/>
                </a:lnTo>
                <a:quadBezTo>
                  <a:pt x="71445" y="31762"/>
                  <a:pt x="69987" y="31152"/>
                </a:quadBezTo>
                <a:quadBezTo>
                  <a:pt x="68525" y="30553"/>
                  <a:pt x="67412" y="29431"/>
                </a:quadBezTo>
                <a:lnTo>
                  <a:pt x="53862" y="15881"/>
                </a:lnTo>
                <a:lnTo>
                  <a:pt x="23812" y="15881"/>
                </a:lnTo>
                <a:quadBezTo>
                  <a:pt x="20525" y="15881"/>
                  <a:pt x="18200" y="18206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233267" y="8181879"/>
            <a:ext cx="143067" cy="95442"/>
          </a:xfrm>
          <a:custGeom>
            <a:avLst/>
            <a:gdLst/>
            <a:ahLst/>
            <a:cxnLst/>
            <a:rect l="0" t="0" r="r" b="b"/>
            <a:pathLst>
              <a:path w="143067" h="95442">
                <a:moveTo>
                  <a:pt x="135033" y="96"/>
                </a:moveTo>
                <a:lnTo>
                  <a:pt x="8033" y="96"/>
                </a:lnTo>
                <a:quadBezTo>
                  <a:pt x="4706" y="0"/>
                  <a:pt x="2421" y="2421"/>
                </a:quadBezTo>
                <a:quadBezTo>
                  <a:pt x="0" y="4706"/>
                  <a:pt x="96" y="8033"/>
                </a:quadBezTo>
                <a:quadBezTo>
                  <a:pt x="0" y="11361"/>
                  <a:pt x="2421" y="13646"/>
                </a:quadBezTo>
                <a:quadBezTo>
                  <a:pt x="4706" y="16067"/>
                  <a:pt x="8033" y="15971"/>
                </a:quadBezTo>
                <a:lnTo>
                  <a:pt x="135033" y="15971"/>
                </a:lnTo>
                <a:quadBezTo>
                  <a:pt x="138361" y="16067"/>
                  <a:pt x="140646" y="13646"/>
                </a:quadBezTo>
                <a:quadBezTo>
                  <a:pt x="143067" y="11361"/>
                  <a:pt x="142971" y="8033"/>
                </a:quadBezTo>
                <a:quadBezTo>
                  <a:pt x="143067" y="4706"/>
                  <a:pt x="140646" y="2421"/>
                </a:quadBezTo>
                <a:quadBezTo>
                  <a:pt x="138361" y="0"/>
                  <a:pt x="135033" y="96"/>
                </a:quadBezTo>
                <a:close/>
                <a:moveTo>
                  <a:pt x="135033" y="39783"/>
                </a:moveTo>
                <a:lnTo>
                  <a:pt x="8033" y="39783"/>
                </a:lnTo>
                <a:quadBezTo>
                  <a:pt x="4706" y="39688"/>
                  <a:pt x="2421" y="42108"/>
                </a:quadBezTo>
                <a:quadBezTo>
                  <a:pt x="0" y="44393"/>
                  <a:pt x="96" y="47721"/>
                </a:quadBezTo>
                <a:quadBezTo>
                  <a:pt x="0" y="51048"/>
                  <a:pt x="2421" y="53333"/>
                </a:quadBezTo>
                <a:quadBezTo>
                  <a:pt x="4706" y="55754"/>
                  <a:pt x="8033" y="55658"/>
                </a:quadBezTo>
                <a:lnTo>
                  <a:pt x="135033" y="55658"/>
                </a:lnTo>
                <a:quadBezTo>
                  <a:pt x="138361" y="55754"/>
                  <a:pt x="140646" y="53333"/>
                </a:quadBezTo>
                <a:quadBezTo>
                  <a:pt x="143067" y="51048"/>
                  <a:pt x="142971" y="47721"/>
                </a:quadBezTo>
                <a:quadBezTo>
                  <a:pt x="143067" y="44393"/>
                  <a:pt x="140646" y="42108"/>
                </a:quadBezTo>
                <a:quadBezTo>
                  <a:pt x="138361" y="39688"/>
                  <a:pt x="135033" y="39783"/>
                </a:quadBezTo>
                <a:close/>
                <a:moveTo>
                  <a:pt x="135033" y="79471"/>
                </a:moveTo>
                <a:lnTo>
                  <a:pt x="8033" y="79471"/>
                </a:lnTo>
                <a:quadBezTo>
                  <a:pt x="4706" y="79375"/>
                  <a:pt x="2421" y="81796"/>
                </a:quadBezTo>
                <a:quadBezTo>
                  <a:pt x="0" y="84081"/>
                  <a:pt x="96" y="87408"/>
                </a:quadBezTo>
                <a:quadBezTo>
                  <a:pt x="0" y="90736"/>
                  <a:pt x="2421" y="93021"/>
                </a:quadBezTo>
                <a:quadBezTo>
                  <a:pt x="4706" y="95442"/>
                  <a:pt x="8033" y="95346"/>
                </a:quadBezTo>
                <a:lnTo>
                  <a:pt x="135033" y="95346"/>
                </a:lnTo>
                <a:quadBezTo>
                  <a:pt x="138361" y="95442"/>
                  <a:pt x="140646" y="93021"/>
                </a:quadBezTo>
                <a:quadBezTo>
                  <a:pt x="143067" y="90736"/>
                  <a:pt x="142971" y="87408"/>
                </a:quadBezTo>
                <a:quadBezTo>
                  <a:pt x="143067" y="84081"/>
                  <a:pt x="140646" y="81796"/>
                </a:quadBezTo>
                <a:quadBezTo>
                  <a:pt x="138361" y="79375"/>
                  <a:pt x="135033" y="79471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Ellipse"/>
          <p:cNvSpPr/>
          <p:nvPr/>
        </p:nvSpPr>
        <p:spPr>
          <a:xfrm>
            <a:off x="267494" y="8172450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Ellipse"/>
          <p:cNvSpPr/>
          <p:nvPr/>
        </p:nvSpPr>
        <p:spPr>
          <a:xfrm>
            <a:off x="267494" y="8172450"/>
            <a:ext cx="34925" cy="34925"/>
          </a:xfrm>
          <a:prstGeom prst="ellipse">
            <a:avLst/>
          </a:prstGeom>
          <a:noFill/>
          <a:ln w="15875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Ellipse"/>
          <p:cNvSpPr/>
          <p:nvPr/>
        </p:nvSpPr>
        <p:spPr>
          <a:xfrm>
            <a:off x="311150" y="8212138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Ellipse"/>
          <p:cNvSpPr/>
          <p:nvPr/>
        </p:nvSpPr>
        <p:spPr>
          <a:xfrm>
            <a:off x="311150" y="8212138"/>
            <a:ext cx="34925" cy="34925"/>
          </a:xfrm>
          <a:prstGeom prst="ellipse">
            <a:avLst/>
          </a:prstGeom>
          <a:noFill/>
          <a:ln w="15875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Ellipse"/>
          <p:cNvSpPr/>
          <p:nvPr/>
        </p:nvSpPr>
        <p:spPr>
          <a:xfrm>
            <a:off x="255588" y="8251825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Ellipse"/>
          <p:cNvSpPr/>
          <p:nvPr/>
        </p:nvSpPr>
        <p:spPr>
          <a:xfrm>
            <a:off x="255588" y="8251825"/>
            <a:ext cx="34925" cy="34925"/>
          </a:xfrm>
          <a:prstGeom prst="ellipse">
            <a:avLst/>
          </a:prstGeom>
          <a:noFill/>
          <a:ln w="15875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609600" y="0"/>
            <a:ext cx="13106400" cy="542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704850" y="95250"/>
            <a:ext cx="1352550" cy="352425"/>
          </a:xfrm>
          <a:prstGeom prst="roundRect">
            <a:avLst>
              <a:gd name="adj" fmla="val 21621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800100" y="2381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952500" y="190500"/>
            <a:ext cx="81724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1A73E8"/>
                </a:solidFill>
                <a:latin typeface="JetBrains Mono"/>
                <a:ea typeface="JetBrains Mono"/>
                <a:cs typeface="JetBrains Mono"/>
              </a:rPr>
              <a:t>prod-web-01</a:t>
            </a:r>
          </a:p>
        </p:txBody>
      </p:sp>
      <p:sp>
        <p:nvSpPr>
          <p:cNvPr id="24" name="Path"/>
          <p:cNvSpPr/>
          <p:nvPr/>
        </p:nvSpPr>
        <p:spPr>
          <a:xfrm>
            <a:off x="1863951" y="235176"/>
            <a:ext cx="82099" cy="82099"/>
          </a:xfrm>
          <a:custGeom>
            <a:avLst/>
            <a:gdLst/>
            <a:ahLst/>
            <a:cxnLst/>
            <a:rect l="0" t="0" r="r" b="b"/>
            <a:pathLst>
              <a:path w="82099" h="82099">
                <a:moveTo>
                  <a:pt x="51826" y="41049"/>
                </a:moveTo>
                <a:lnTo>
                  <a:pt x="79775" y="13100"/>
                </a:lnTo>
                <a:quadBezTo>
                  <a:pt x="82099" y="10906"/>
                  <a:pt x="82007" y="7712"/>
                </a:quadBezTo>
                <a:quadBezTo>
                  <a:pt x="82099" y="4518"/>
                  <a:pt x="79775" y="2324"/>
                </a:quadBezTo>
                <a:quadBezTo>
                  <a:pt x="77581" y="0"/>
                  <a:pt x="74387" y="92"/>
                </a:quadBezTo>
                <a:quadBezTo>
                  <a:pt x="71193" y="0"/>
                  <a:pt x="68999" y="2324"/>
                </a:quadBezTo>
                <a:lnTo>
                  <a:pt x="41049" y="30273"/>
                </a:lnTo>
                <a:lnTo>
                  <a:pt x="13100" y="2324"/>
                </a:lnTo>
                <a:quadBezTo>
                  <a:pt x="10906" y="0"/>
                  <a:pt x="7712" y="92"/>
                </a:quadBezTo>
                <a:quadBezTo>
                  <a:pt x="4518" y="0"/>
                  <a:pt x="2324" y="2324"/>
                </a:quadBezTo>
                <a:quadBezTo>
                  <a:pt x="0" y="4518"/>
                  <a:pt x="92" y="7712"/>
                </a:quadBezTo>
                <a:quadBezTo>
                  <a:pt x="0" y="10906"/>
                  <a:pt x="2324" y="13100"/>
                </a:quadBezTo>
                <a:lnTo>
                  <a:pt x="30273" y="41049"/>
                </a:lnTo>
                <a:lnTo>
                  <a:pt x="2324" y="68999"/>
                </a:lnTo>
                <a:quadBezTo>
                  <a:pt x="0" y="71193"/>
                  <a:pt x="92" y="74387"/>
                </a:quadBezTo>
                <a:quadBezTo>
                  <a:pt x="0" y="77581"/>
                  <a:pt x="2324" y="79775"/>
                </a:quadBezTo>
                <a:quadBezTo>
                  <a:pt x="4518" y="82099"/>
                  <a:pt x="7712" y="82007"/>
                </a:quadBezTo>
                <a:quadBezTo>
                  <a:pt x="10906" y="82099"/>
                  <a:pt x="13100" y="79775"/>
                </a:quadBezTo>
                <a:lnTo>
                  <a:pt x="41049" y="51826"/>
                </a:lnTo>
                <a:lnTo>
                  <a:pt x="68999" y="79775"/>
                </a:lnTo>
                <a:quadBezTo>
                  <a:pt x="71193" y="82099"/>
                  <a:pt x="74387" y="82007"/>
                </a:quadBezTo>
                <a:quadBezTo>
                  <a:pt x="77581" y="82099"/>
                  <a:pt x="79775" y="79775"/>
                </a:quadBezTo>
                <a:quadBezTo>
                  <a:pt x="82099" y="77581"/>
                  <a:pt x="82007" y="74387"/>
                </a:quadBezTo>
                <a:quadBezTo>
                  <a:pt x="82099" y="71193"/>
                  <a:pt x="79775" y="68999"/>
                </a:quadBezTo>
                <a:lnTo>
                  <a:pt x="51826" y="41049"/>
                </a:ln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2228850" y="2381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2381250" y="190500"/>
            <a:ext cx="81724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dev-test-02</a:t>
            </a:r>
          </a:p>
        </p:txBody>
      </p:sp>
      <p:sp>
        <p:nvSpPr>
          <p:cNvPr id="27" name="Path"/>
          <p:cNvSpPr/>
          <p:nvPr/>
        </p:nvSpPr>
        <p:spPr>
          <a:xfrm>
            <a:off x="3292700" y="235176"/>
            <a:ext cx="82099" cy="82099"/>
          </a:xfrm>
          <a:custGeom>
            <a:avLst/>
            <a:gdLst/>
            <a:ahLst/>
            <a:cxnLst/>
            <a:rect l="0" t="0" r="r" b="b"/>
            <a:pathLst>
              <a:path w="82099" h="82099">
                <a:moveTo>
                  <a:pt x="51826" y="41049"/>
                </a:moveTo>
                <a:lnTo>
                  <a:pt x="79775" y="13100"/>
                </a:lnTo>
                <a:quadBezTo>
                  <a:pt x="82099" y="10906"/>
                  <a:pt x="82007" y="7712"/>
                </a:quadBezTo>
                <a:quadBezTo>
                  <a:pt x="82099" y="4518"/>
                  <a:pt x="79775" y="2324"/>
                </a:quadBezTo>
                <a:quadBezTo>
                  <a:pt x="77581" y="0"/>
                  <a:pt x="74387" y="92"/>
                </a:quadBezTo>
                <a:quadBezTo>
                  <a:pt x="71193" y="0"/>
                  <a:pt x="68999" y="2324"/>
                </a:quadBezTo>
                <a:lnTo>
                  <a:pt x="41049" y="30273"/>
                </a:lnTo>
                <a:lnTo>
                  <a:pt x="13100" y="2324"/>
                </a:lnTo>
                <a:quadBezTo>
                  <a:pt x="10906" y="0"/>
                  <a:pt x="7712" y="92"/>
                </a:quadBezTo>
                <a:quadBezTo>
                  <a:pt x="4518" y="0"/>
                  <a:pt x="2324" y="2324"/>
                </a:quadBezTo>
                <a:quadBezTo>
                  <a:pt x="0" y="4518"/>
                  <a:pt x="92" y="7712"/>
                </a:quadBezTo>
                <a:quadBezTo>
                  <a:pt x="0" y="10906"/>
                  <a:pt x="2324" y="13100"/>
                </a:quadBezTo>
                <a:lnTo>
                  <a:pt x="30273" y="41049"/>
                </a:lnTo>
                <a:lnTo>
                  <a:pt x="2324" y="68999"/>
                </a:lnTo>
                <a:quadBezTo>
                  <a:pt x="0" y="71193"/>
                  <a:pt x="92" y="74387"/>
                </a:quadBezTo>
                <a:quadBezTo>
                  <a:pt x="0" y="77581"/>
                  <a:pt x="2324" y="79775"/>
                </a:quadBezTo>
                <a:quadBezTo>
                  <a:pt x="4518" y="82099"/>
                  <a:pt x="7712" y="82007"/>
                </a:quadBezTo>
                <a:quadBezTo>
                  <a:pt x="10906" y="82099"/>
                  <a:pt x="13100" y="79775"/>
                </a:quadBezTo>
                <a:lnTo>
                  <a:pt x="41049" y="51826"/>
                </a:lnTo>
                <a:lnTo>
                  <a:pt x="68999" y="79775"/>
                </a:lnTo>
                <a:quadBezTo>
                  <a:pt x="71193" y="82099"/>
                  <a:pt x="74387" y="82007"/>
                </a:quadBezTo>
                <a:quadBezTo>
                  <a:pt x="77581" y="82099"/>
                  <a:pt x="79775" y="79775"/>
                </a:quadBezTo>
                <a:quadBezTo>
                  <a:pt x="82099" y="77581"/>
                  <a:pt x="82007" y="74387"/>
                </a:quadBezTo>
                <a:quadBezTo>
                  <a:pt x="82099" y="71193"/>
                  <a:pt x="79775" y="68999"/>
                </a:quadBezTo>
                <a:lnTo>
                  <a:pt x="51826" y="41049"/>
                </a:lnTo>
                <a:close/>
              </a:path>
            </a:pathLst>
          </a:custGeom>
          <a:solidFill>
            <a:srgbClr val="9AA0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Path"/>
          <p:cNvSpPr/>
          <p:nvPr/>
        </p:nvSpPr>
        <p:spPr>
          <a:xfrm>
            <a:off x="3648924" y="219924"/>
            <a:ext cx="112602" cy="112602"/>
          </a:xfrm>
          <a:custGeom>
            <a:avLst/>
            <a:gdLst/>
            <a:ahLst/>
            <a:cxnLst/>
            <a:rect l="0" t="0" r="r" b="b"/>
            <a:pathLst>
              <a:path w="112602" h="112602">
                <a:moveTo>
                  <a:pt x="64873" y="47728"/>
                </a:moveTo>
                <a:lnTo>
                  <a:pt x="64873" y="8676"/>
                </a:lnTo>
                <a:quadBezTo>
                  <a:pt x="64977" y="5082"/>
                  <a:pt x="62363" y="2614"/>
                </a:quadBezTo>
                <a:quadBezTo>
                  <a:pt x="59895" y="0"/>
                  <a:pt x="56301" y="103"/>
                </a:quadBezTo>
                <a:quadBezTo>
                  <a:pt x="52707" y="0"/>
                  <a:pt x="50239" y="2614"/>
                </a:quadBezTo>
                <a:quadBezTo>
                  <a:pt x="47625" y="5082"/>
                  <a:pt x="47728" y="8676"/>
                </a:quadBezTo>
                <a:lnTo>
                  <a:pt x="47728" y="47728"/>
                </a:lnTo>
                <a:lnTo>
                  <a:pt x="8676" y="47728"/>
                </a:lnTo>
                <a:quadBezTo>
                  <a:pt x="5082" y="47625"/>
                  <a:pt x="2614" y="50239"/>
                </a:quadBezTo>
                <a:quadBezTo>
                  <a:pt x="0" y="52707"/>
                  <a:pt x="103" y="56301"/>
                </a:quadBezTo>
                <a:quadBezTo>
                  <a:pt x="0" y="59895"/>
                  <a:pt x="2614" y="62363"/>
                </a:quadBezTo>
                <a:quadBezTo>
                  <a:pt x="5082" y="64977"/>
                  <a:pt x="8676" y="64873"/>
                </a:quadBezTo>
                <a:lnTo>
                  <a:pt x="47728" y="64873"/>
                </a:lnTo>
                <a:lnTo>
                  <a:pt x="47728" y="103926"/>
                </a:lnTo>
                <a:quadBezTo>
                  <a:pt x="47625" y="107520"/>
                  <a:pt x="50239" y="109988"/>
                </a:quadBezTo>
                <a:quadBezTo>
                  <a:pt x="52707" y="112602"/>
                  <a:pt x="56301" y="112498"/>
                </a:quadBezTo>
                <a:quadBezTo>
                  <a:pt x="59895" y="112602"/>
                  <a:pt x="62363" y="109988"/>
                </a:quadBezTo>
                <a:quadBezTo>
                  <a:pt x="64977" y="107520"/>
                  <a:pt x="64873" y="103926"/>
                </a:quadBezTo>
                <a:lnTo>
                  <a:pt x="64873" y="64873"/>
                </a:lnTo>
                <a:lnTo>
                  <a:pt x="103926" y="64873"/>
                </a:lnTo>
                <a:quadBezTo>
                  <a:pt x="107520" y="64977"/>
                  <a:pt x="109988" y="62363"/>
                </a:quadBezTo>
                <a:quadBezTo>
                  <a:pt x="112602" y="59895"/>
                  <a:pt x="112498" y="56301"/>
                </a:quadBezTo>
                <a:quadBezTo>
                  <a:pt x="112602" y="52707"/>
                  <a:pt x="109988" y="50239"/>
                </a:quadBezTo>
                <a:quadBezTo>
                  <a:pt x="107520" y="47625"/>
                  <a:pt x="103926" y="47728"/>
                </a:quadBezTo>
                <a:lnTo>
                  <a:pt x="64873" y="47728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762000" y="695325"/>
            <a:ext cx="12801600" cy="3695700"/>
          </a:xfrm>
          <a:prstGeom prst="roundRect">
            <a:avLst>
              <a:gd name="adj" fmla="val 3092"/>
            </a:avLst>
          </a:prstGeom>
          <a:solidFill>
            <a:srgbClr val="1E222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952500" y="885825"/>
            <a:ext cx="14116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34A853"/>
                </a:solidFill>
                <a:latin typeface="JetBrains Mono"/>
                <a:ea typeface="JetBrains Mono"/>
                <a:cs typeface="JetBrains Mono"/>
              </a:rPr>
              <a:t>root@prod-web-01:~$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2466975" y="885825"/>
            <a:ext cx="6686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AED"/>
                </a:solidFill>
                <a:latin typeface="JetBrains Mono"/>
                <a:ea typeface="JetBrains Mono"/>
                <a:cs typeface="JetBrains Mono"/>
              </a:rPr>
              <a:t>docker ps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952500" y="1143000"/>
            <a:ext cx="342900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9AA0A6"/>
                </a:solidFill>
                <a:latin typeface="JetBrains Mono"/>
                <a:ea typeface="JetBrains Mono"/>
                <a:cs typeface="JetBrains Mono"/>
              </a:rPr>
              <a:t>CONTAINER ID   IMAGE            STATUS       PORTS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952500" y="1390650"/>
            <a:ext cx="432054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E8EAED"/>
                </a:solidFill>
                <a:latin typeface="JetBrains Mono"/>
                <a:ea typeface="JetBrains Mono"/>
                <a:cs typeface="JetBrains Mono"/>
              </a:rPr>
              <a:t>a1f3c8e2b901   nginx:1.25       Up 3 days    0.0.0.0:80-&gt;80/tcp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952500" y="1638300"/>
            <a:ext cx="445770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E8EAED"/>
                </a:solidFill>
                <a:latin typeface="JetBrains Mono"/>
                <a:ea typeface="JetBrains Mono"/>
                <a:cs typeface="JetBrains Mono"/>
              </a:rPr>
              <a:t>b7d2f1a4c553   mysql:8.0        Up 3 days    127.0.0.1:3306-&gt;3306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952500" y="1885950"/>
            <a:ext cx="36347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E8EAED"/>
                </a:solidFill>
                <a:latin typeface="JetBrains Mono"/>
                <a:ea typeface="JetBrains Mono"/>
                <a:cs typeface="JetBrains Mono"/>
              </a:rPr>
              <a:t>e9c0b7a3d112   redis:7-alpine   Up 2 days    6379/tcp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952500" y="2133600"/>
            <a:ext cx="14116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34A853"/>
                </a:solidFill>
                <a:latin typeface="JetBrains Mono"/>
                <a:ea typeface="JetBrains Mono"/>
                <a:cs typeface="JetBrains Mono"/>
              </a:rPr>
              <a:t>root@prod-web-01:~$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2466975" y="2133600"/>
            <a:ext cx="81724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E8EAED"/>
                </a:solidFill>
                <a:latin typeface="JetBrains Mono"/>
                <a:ea typeface="JetBrains Mono"/>
                <a:cs typeface="JetBrains Mono"/>
              </a:rPr>
              <a:t>df -h /data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952500" y="2390775"/>
            <a:ext cx="34975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9AA0A6"/>
                </a:solidFill>
                <a:latin typeface="JetBrains Mono"/>
                <a:ea typeface="JetBrains Mono"/>
                <a:cs typeface="JetBrains Mono"/>
              </a:rPr>
              <a:t>Filesystem      Size  Used  Avail  Use%  Mounted on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952500" y="2638425"/>
            <a:ext cx="31546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E8EAED"/>
                </a:solidFill>
                <a:latin typeface="JetBrains Mono"/>
                <a:ea typeface="JetBrains Mono"/>
                <a:cs typeface="JetBrains Mono"/>
              </a:rPr>
              <a:t>/dev/sdb1       500G  218G   282G   44%  /data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952500" y="2886075"/>
            <a:ext cx="203454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BBC04"/>
                </a:solidFill>
                <a:latin typeface="JetBrains Mono"/>
                <a:ea typeface="JetBrains Mono"/>
                <a:cs typeface="JetBrains Mono"/>
              </a:rPr>
              <a:t>磁盘使用率 44%，已超过预警阈值 40%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952500" y="4038600"/>
            <a:ext cx="14116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34A853"/>
                </a:solidFill>
                <a:latin typeface="JetBrains Mono"/>
                <a:ea typeface="JetBrains Mono"/>
                <a:cs typeface="JetBrains Mono"/>
              </a:rPr>
              <a:t>root@prod-web-01:~$</a:t>
            </a:r>
          </a:p>
        </p:txBody>
      </p:sp>
      <p:sp>
        <p:nvSpPr>
          <p:cNvPr id="42" name="Rectangle"/>
          <p:cNvSpPr/>
          <p:nvPr/>
        </p:nvSpPr>
        <p:spPr>
          <a:xfrm>
            <a:off x="2466975" y="4038600"/>
            <a:ext cx="85725" cy="161925"/>
          </a:xfrm>
          <a:prstGeom prst="roundRect">
            <a:avLst>
              <a:gd name="adj" fmla="val 22222"/>
            </a:avLst>
          </a:prstGeom>
          <a:solidFill>
            <a:srgbClr val="E8EA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"/>
          <p:cNvSpPr/>
          <p:nvPr/>
        </p:nvSpPr>
        <p:spPr>
          <a:xfrm>
            <a:off x="6972300" y="459105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DADC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"/>
          <p:cNvSpPr/>
          <p:nvPr/>
        </p:nvSpPr>
        <p:spPr>
          <a:xfrm>
            <a:off x="609600" y="4676775"/>
            <a:ext cx="13106400" cy="3371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"/>
          <p:cNvSpPr txBox="1"/>
          <p:nvPr/>
        </p:nvSpPr>
        <p:spPr>
          <a:xfrm>
            <a:off x="723900" y="4867275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202124"/>
                </a:solidFill>
                <a:latin typeface="Inter Bold"/>
                <a:ea typeface="Inter Bold"/>
                <a:cs typeface="Inter Bold"/>
              </a:rPr>
              <a:t>远程文件</a:t>
            </a:r>
          </a:p>
        </p:txBody>
      </p:sp>
      <p:sp>
        <p:nvSpPr>
          <p:cNvPr id="46" name="TextBox"/>
          <p:cNvSpPr txBox="1"/>
          <p:nvPr/>
        </p:nvSpPr>
        <p:spPr>
          <a:xfrm>
            <a:off x="1314450" y="4876800"/>
            <a:ext cx="8172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/var/www/html</a:t>
            </a:r>
          </a:p>
        </p:txBody>
      </p:sp>
      <p:sp>
        <p:nvSpPr>
          <p:cNvPr id="47" name="Path"/>
          <p:cNvSpPr/>
          <p:nvPr/>
        </p:nvSpPr>
        <p:spPr>
          <a:xfrm>
            <a:off x="9330605" y="4885606"/>
            <a:ext cx="83989" cy="96689"/>
          </a:xfrm>
          <a:custGeom>
            <a:avLst/>
            <a:gdLst/>
            <a:ahLst/>
            <a:cxnLst/>
            <a:rect l="0" t="0" r="r" b="b"/>
            <a:pathLst>
              <a:path w="83989" h="96689">
                <a:moveTo>
                  <a:pt x="48979" y="72756"/>
                </a:moveTo>
                <a:lnTo>
                  <a:pt x="48979" y="7069"/>
                </a:lnTo>
                <a:quadBezTo>
                  <a:pt x="49064" y="4141"/>
                  <a:pt x="46933" y="2130"/>
                </a:quadBezTo>
                <a:quadBezTo>
                  <a:pt x="44922" y="0"/>
                  <a:pt x="41994" y="84"/>
                </a:quadBezTo>
                <a:quadBezTo>
                  <a:pt x="39066" y="0"/>
                  <a:pt x="37055" y="2130"/>
                </a:quadBezTo>
                <a:quadBezTo>
                  <a:pt x="34925" y="4141"/>
                  <a:pt x="35009" y="7069"/>
                </a:quadBezTo>
                <a:lnTo>
                  <a:pt x="35009" y="72756"/>
                </a:lnTo>
                <a:lnTo>
                  <a:pt x="12008" y="49755"/>
                </a:lnTo>
                <a:quadBezTo>
                  <a:pt x="9997" y="47625"/>
                  <a:pt x="7069" y="47709"/>
                </a:quadBezTo>
                <a:quadBezTo>
                  <a:pt x="4141" y="47625"/>
                  <a:pt x="2130" y="49755"/>
                </a:quadBezTo>
                <a:quadBezTo>
                  <a:pt x="0" y="51766"/>
                  <a:pt x="84" y="54694"/>
                </a:quadBezTo>
                <a:quadBezTo>
                  <a:pt x="0" y="57622"/>
                  <a:pt x="2130" y="59633"/>
                </a:quadBezTo>
                <a:lnTo>
                  <a:pt x="37055" y="94558"/>
                </a:lnTo>
                <a:quadBezTo>
                  <a:pt x="39066" y="96689"/>
                  <a:pt x="41994" y="96604"/>
                </a:quadBezTo>
                <a:quadBezTo>
                  <a:pt x="44922" y="96689"/>
                  <a:pt x="46933" y="94558"/>
                </a:quadBezTo>
                <a:lnTo>
                  <a:pt x="81858" y="59633"/>
                </a:lnTo>
                <a:quadBezTo>
                  <a:pt x="83989" y="57622"/>
                  <a:pt x="83904" y="54694"/>
                </a:quadBezTo>
                <a:quadBezTo>
                  <a:pt x="83989" y="51766"/>
                  <a:pt x="81858" y="49755"/>
                </a:quadBezTo>
                <a:quadBezTo>
                  <a:pt x="79847" y="47625"/>
                  <a:pt x="76919" y="47709"/>
                </a:quadBezTo>
                <a:quadBezTo>
                  <a:pt x="73991" y="47625"/>
                  <a:pt x="71980" y="49755"/>
                </a:quadBezTo>
                <a:lnTo>
                  <a:pt x="48979" y="72756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Path"/>
          <p:cNvSpPr/>
          <p:nvPr/>
        </p:nvSpPr>
        <p:spPr>
          <a:xfrm>
            <a:off x="9321080" y="4987205"/>
            <a:ext cx="103039" cy="14139"/>
          </a:xfrm>
          <a:custGeom>
            <a:avLst/>
            <a:gdLst/>
            <a:ahLst/>
            <a:cxnLst/>
            <a:rect l="0" t="0" r="r" b="b"/>
            <a:pathLst>
              <a:path w="103039" h="14139">
                <a:moveTo>
                  <a:pt x="95969" y="84"/>
                </a:moveTo>
                <a:lnTo>
                  <a:pt x="7069" y="84"/>
                </a:lnTo>
                <a:quadBezTo>
                  <a:pt x="4141" y="0"/>
                  <a:pt x="2130" y="2130"/>
                </a:quadBezTo>
                <a:quadBezTo>
                  <a:pt x="0" y="4141"/>
                  <a:pt x="84" y="7069"/>
                </a:quadBezTo>
                <a:quadBezTo>
                  <a:pt x="0" y="9997"/>
                  <a:pt x="2130" y="12008"/>
                </a:quadBezTo>
                <a:quadBezTo>
                  <a:pt x="4141" y="14139"/>
                  <a:pt x="7069" y="14054"/>
                </a:quadBezTo>
                <a:lnTo>
                  <a:pt x="95969" y="14054"/>
                </a:lnTo>
                <a:quadBezTo>
                  <a:pt x="98897" y="14139"/>
                  <a:pt x="100908" y="12008"/>
                </a:quadBezTo>
                <a:quadBezTo>
                  <a:pt x="103039" y="9997"/>
                  <a:pt x="102954" y="7069"/>
                </a:quadBezTo>
                <a:quadBezTo>
                  <a:pt x="103039" y="4141"/>
                  <a:pt x="100908" y="2130"/>
                </a:quadBezTo>
                <a:quadBezTo>
                  <a:pt x="98897" y="0"/>
                  <a:pt x="95969" y="84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Path"/>
          <p:cNvSpPr/>
          <p:nvPr/>
        </p:nvSpPr>
        <p:spPr>
          <a:xfrm>
            <a:off x="9636125" y="4892671"/>
            <a:ext cx="133350" cy="111130"/>
          </a:xfrm>
          <a:custGeom>
            <a:avLst/>
            <a:gdLst/>
            <a:ahLst/>
            <a:cxnLst/>
            <a:rect l="0" t="0" r="r" b="b"/>
            <a:pathLst>
              <a:path w="133350" h="111130">
                <a:moveTo>
                  <a:pt x="5580" y="5584"/>
                </a:moveTo>
                <a:quadBezTo>
                  <a:pt x="11159" y="5"/>
                  <a:pt x="19050" y="5"/>
                </a:quadBezTo>
                <a:lnTo>
                  <a:pt x="45720" y="5"/>
                </a:lnTo>
                <a:quadBezTo>
                  <a:pt x="46984" y="0"/>
                  <a:pt x="48150" y="488"/>
                </a:quadBezTo>
                <a:quadBezTo>
                  <a:pt x="49320" y="967"/>
                  <a:pt x="50210" y="1865"/>
                </a:quadBezTo>
                <a:lnTo>
                  <a:pt x="61050" y="12705"/>
                </a:lnTo>
                <a:lnTo>
                  <a:pt x="114300" y="12705"/>
                </a:lnTo>
                <a:quadBezTo>
                  <a:pt x="122191" y="12705"/>
                  <a:pt x="127770" y="18284"/>
                </a:quadBezTo>
                <a:quadBezTo>
                  <a:pt x="133350" y="23864"/>
                  <a:pt x="133350" y="31755"/>
                </a:quadBezTo>
                <a:lnTo>
                  <a:pt x="133350" y="92080"/>
                </a:lnTo>
                <a:quadBezTo>
                  <a:pt x="133350" y="99970"/>
                  <a:pt x="127770" y="105550"/>
                </a:quadBezTo>
                <a:quadBezTo>
                  <a:pt x="122191" y="111130"/>
                  <a:pt x="114300" y="111130"/>
                </a:quadBezTo>
                <a:lnTo>
                  <a:pt x="19050" y="111130"/>
                </a:lnTo>
                <a:quadBezTo>
                  <a:pt x="11159" y="111130"/>
                  <a:pt x="5580" y="105550"/>
                </a:quadBezTo>
                <a:quadBezTo>
                  <a:pt x="0" y="99971"/>
                  <a:pt x="0" y="92080"/>
                </a:quadBezTo>
                <a:lnTo>
                  <a:pt x="0" y="19055"/>
                </a:lnTo>
                <a:quadBezTo>
                  <a:pt x="0" y="11164"/>
                  <a:pt x="5580" y="5584"/>
                </a:quadBezTo>
                <a:lnTo>
                  <a:pt x="5580" y="5584"/>
                </a:lnTo>
                <a:close/>
                <a:moveTo>
                  <a:pt x="14560" y="14565"/>
                </a:moveTo>
                <a:quadBezTo>
                  <a:pt x="12700" y="16424"/>
                  <a:pt x="12700" y="19055"/>
                </a:quadBezTo>
                <a:lnTo>
                  <a:pt x="12700" y="92080"/>
                </a:lnTo>
                <a:quadBezTo>
                  <a:pt x="12700" y="94710"/>
                  <a:pt x="14560" y="96570"/>
                </a:quadBezTo>
                <a:quadBezTo>
                  <a:pt x="16420" y="98430"/>
                  <a:pt x="19050" y="98430"/>
                </a:quadBezTo>
                <a:lnTo>
                  <a:pt x="114300" y="98430"/>
                </a:lnTo>
                <a:quadBezTo>
                  <a:pt x="116930" y="98430"/>
                  <a:pt x="118790" y="96570"/>
                </a:quadBezTo>
                <a:quadBezTo>
                  <a:pt x="120650" y="94710"/>
                  <a:pt x="120650" y="92080"/>
                </a:quadBezTo>
                <a:lnTo>
                  <a:pt x="120650" y="31755"/>
                </a:lnTo>
                <a:quadBezTo>
                  <a:pt x="120650" y="29124"/>
                  <a:pt x="118790" y="27265"/>
                </a:quadBezTo>
                <a:quadBezTo>
                  <a:pt x="116930" y="25405"/>
                  <a:pt x="114300" y="25405"/>
                </a:quadBezTo>
                <a:lnTo>
                  <a:pt x="58420" y="25405"/>
                </a:lnTo>
                <a:quadBezTo>
                  <a:pt x="57156" y="25409"/>
                  <a:pt x="55990" y="24921"/>
                </a:quadBezTo>
                <a:quadBezTo>
                  <a:pt x="54820" y="24442"/>
                  <a:pt x="53930" y="23545"/>
                </a:quadBezTo>
                <a:lnTo>
                  <a:pt x="43090" y="12705"/>
                </a:lnTo>
                <a:lnTo>
                  <a:pt x="19050" y="12705"/>
                </a:lnTo>
                <a:quadBezTo>
                  <a:pt x="16420" y="12705"/>
                  <a:pt x="14560" y="14565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Path"/>
          <p:cNvSpPr/>
          <p:nvPr/>
        </p:nvSpPr>
        <p:spPr>
          <a:xfrm>
            <a:off x="9674791" y="4928166"/>
            <a:ext cx="43318" cy="43318"/>
          </a:xfrm>
          <a:custGeom>
            <a:avLst/>
            <a:gdLst/>
            <a:ahLst/>
            <a:cxnLst/>
            <a:rect l="0" t="0" r="r" b="b"/>
            <a:pathLst>
              <a:path w="43318" h="43318">
                <a:moveTo>
                  <a:pt x="27374" y="15944"/>
                </a:moveTo>
                <a:lnTo>
                  <a:pt x="27374" y="5784"/>
                </a:lnTo>
                <a:quadBezTo>
                  <a:pt x="27443" y="3388"/>
                  <a:pt x="25700" y="1743"/>
                </a:quadBezTo>
                <a:quadBezTo>
                  <a:pt x="24055" y="0"/>
                  <a:pt x="21659" y="69"/>
                </a:quadBezTo>
                <a:quadBezTo>
                  <a:pt x="19263" y="0"/>
                  <a:pt x="17618" y="1743"/>
                </a:quadBezTo>
                <a:quadBezTo>
                  <a:pt x="15875" y="3388"/>
                  <a:pt x="15944" y="5784"/>
                </a:quadBezTo>
                <a:lnTo>
                  <a:pt x="15944" y="15944"/>
                </a:lnTo>
                <a:lnTo>
                  <a:pt x="5784" y="15944"/>
                </a:lnTo>
                <a:quadBezTo>
                  <a:pt x="3388" y="15875"/>
                  <a:pt x="1743" y="17618"/>
                </a:quadBezTo>
                <a:quadBezTo>
                  <a:pt x="0" y="19263"/>
                  <a:pt x="69" y="21659"/>
                </a:quadBezTo>
                <a:quadBezTo>
                  <a:pt x="0" y="24055"/>
                  <a:pt x="1743" y="25700"/>
                </a:quadBezTo>
                <a:quadBezTo>
                  <a:pt x="3388" y="27443"/>
                  <a:pt x="5784" y="27374"/>
                </a:quadBezTo>
                <a:lnTo>
                  <a:pt x="15944" y="27374"/>
                </a:lnTo>
                <a:lnTo>
                  <a:pt x="15944" y="37534"/>
                </a:lnTo>
                <a:quadBezTo>
                  <a:pt x="15875" y="39930"/>
                  <a:pt x="17618" y="41575"/>
                </a:quadBezTo>
                <a:quadBezTo>
                  <a:pt x="19263" y="43318"/>
                  <a:pt x="21659" y="43249"/>
                </a:quadBezTo>
                <a:quadBezTo>
                  <a:pt x="24055" y="43318"/>
                  <a:pt x="25700" y="41575"/>
                </a:quadBezTo>
                <a:quadBezTo>
                  <a:pt x="27443" y="39930"/>
                  <a:pt x="27374" y="37534"/>
                </a:quadBezTo>
                <a:lnTo>
                  <a:pt x="27374" y="27374"/>
                </a:lnTo>
                <a:lnTo>
                  <a:pt x="37534" y="27374"/>
                </a:lnTo>
                <a:quadBezTo>
                  <a:pt x="39930" y="27443"/>
                  <a:pt x="41575" y="25700"/>
                </a:quadBezTo>
                <a:quadBezTo>
                  <a:pt x="43318" y="24055"/>
                  <a:pt x="43249" y="21659"/>
                </a:quadBezTo>
                <a:quadBezTo>
                  <a:pt x="43318" y="19263"/>
                  <a:pt x="41575" y="17618"/>
                </a:quadBezTo>
                <a:quadBezTo>
                  <a:pt x="39930" y="15875"/>
                  <a:pt x="37534" y="15944"/>
                </a:quadBezTo>
                <a:lnTo>
                  <a:pt x="27374" y="15944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Path"/>
          <p:cNvSpPr/>
          <p:nvPr/>
        </p:nvSpPr>
        <p:spPr>
          <a:xfrm>
            <a:off x="9963073" y="4886248"/>
            <a:ext cx="114453" cy="114453"/>
          </a:xfrm>
          <a:custGeom>
            <a:avLst/>
            <a:gdLst/>
            <a:ahLst/>
            <a:cxnLst/>
            <a:rect l="0" t="0" r="r" b="b"/>
            <a:pathLst>
              <a:path w="114453" h="114453">
                <a:moveTo>
                  <a:pt x="38177" y="12777"/>
                </a:moveTo>
                <a:lnTo>
                  <a:pt x="12777" y="12777"/>
                </a:lnTo>
                <a:lnTo>
                  <a:pt x="12777" y="38177"/>
                </a:lnTo>
                <a:quadBezTo>
                  <a:pt x="12853" y="40839"/>
                  <a:pt x="10917" y="42667"/>
                </a:quadBezTo>
                <a:quadBezTo>
                  <a:pt x="9089" y="44603"/>
                  <a:pt x="6427" y="44527"/>
                </a:quadBezTo>
                <a:quadBezTo>
                  <a:pt x="3765" y="44603"/>
                  <a:pt x="1936" y="42667"/>
                </a:quadBezTo>
                <a:quadBezTo>
                  <a:pt x="0" y="40839"/>
                  <a:pt x="77" y="38177"/>
                </a:quadBezTo>
                <a:lnTo>
                  <a:pt x="77" y="6427"/>
                </a:lnTo>
                <a:quadBezTo>
                  <a:pt x="0" y="3765"/>
                  <a:pt x="1936" y="1936"/>
                </a:quadBezTo>
                <a:quadBezTo>
                  <a:pt x="3765" y="0"/>
                  <a:pt x="6427" y="77"/>
                </a:quadBezTo>
                <a:lnTo>
                  <a:pt x="38177" y="77"/>
                </a:lnTo>
                <a:quadBezTo>
                  <a:pt x="40839" y="0"/>
                  <a:pt x="42667" y="1936"/>
                </a:quadBezTo>
                <a:quadBezTo>
                  <a:pt x="44603" y="3765"/>
                  <a:pt x="44527" y="6427"/>
                </a:quadBezTo>
                <a:quadBezTo>
                  <a:pt x="44603" y="9089"/>
                  <a:pt x="42667" y="10917"/>
                </a:quadBezTo>
                <a:quadBezTo>
                  <a:pt x="40839" y="12853"/>
                  <a:pt x="38177" y="12777"/>
                </a:quadBezTo>
                <a:close/>
                <a:moveTo>
                  <a:pt x="108027" y="77"/>
                </a:moveTo>
                <a:lnTo>
                  <a:pt x="76277" y="77"/>
                </a:lnTo>
                <a:quadBezTo>
                  <a:pt x="73615" y="0"/>
                  <a:pt x="71786" y="1936"/>
                </a:quadBezTo>
                <a:quadBezTo>
                  <a:pt x="69850" y="3765"/>
                  <a:pt x="69927" y="6427"/>
                </a:quadBezTo>
                <a:quadBezTo>
                  <a:pt x="69850" y="9089"/>
                  <a:pt x="71786" y="10917"/>
                </a:quadBezTo>
                <a:quadBezTo>
                  <a:pt x="73615" y="12853"/>
                  <a:pt x="76277" y="12777"/>
                </a:quadBezTo>
                <a:lnTo>
                  <a:pt x="101677" y="12777"/>
                </a:lnTo>
                <a:lnTo>
                  <a:pt x="101677" y="38177"/>
                </a:lnTo>
                <a:quadBezTo>
                  <a:pt x="101600" y="40839"/>
                  <a:pt x="103536" y="42667"/>
                </a:quadBezTo>
                <a:quadBezTo>
                  <a:pt x="105365" y="44603"/>
                  <a:pt x="108027" y="44527"/>
                </a:quadBezTo>
                <a:quadBezTo>
                  <a:pt x="110689" y="44603"/>
                  <a:pt x="112517" y="42667"/>
                </a:quadBezTo>
                <a:quadBezTo>
                  <a:pt x="114453" y="40839"/>
                  <a:pt x="114377" y="38177"/>
                </a:quadBezTo>
                <a:lnTo>
                  <a:pt x="114377" y="6427"/>
                </a:lnTo>
                <a:quadBezTo>
                  <a:pt x="114453" y="3765"/>
                  <a:pt x="112517" y="1936"/>
                </a:quadBezTo>
                <a:quadBezTo>
                  <a:pt x="110689" y="0"/>
                  <a:pt x="108027" y="77"/>
                </a:quadBezTo>
                <a:close/>
                <a:moveTo>
                  <a:pt x="38177" y="114377"/>
                </a:moveTo>
                <a:lnTo>
                  <a:pt x="6427" y="114377"/>
                </a:lnTo>
                <a:quadBezTo>
                  <a:pt x="3765" y="114453"/>
                  <a:pt x="1936" y="112517"/>
                </a:quadBezTo>
                <a:quadBezTo>
                  <a:pt x="0" y="110689"/>
                  <a:pt x="77" y="108027"/>
                </a:quadBezTo>
                <a:lnTo>
                  <a:pt x="77" y="76277"/>
                </a:lnTo>
                <a:quadBezTo>
                  <a:pt x="0" y="73615"/>
                  <a:pt x="1936" y="71786"/>
                </a:quadBezTo>
                <a:quadBezTo>
                  <a:pt x="3765" y="69850"/>
                  <a:pt x="6427" y="69927"/>
                </a:quadBezTo>
                <a:quadBezTo>
                  <a:pt x="9089" y="69850"/>
                  <a:pt x="10917" y="71786"/>
                </a:quadBezTo>
                <a:quadBezTo>
                  <a:pt x="12853" y="73615"/>
                  <a:pt x="12777" y="76277"/>
                </a:quadBezTo>
                <a:lnTo>
                  <a:pt x="12777" y="101677"/>
                </a:lnTo>
                <a:lnTo>
                  <a:pt x="38177" y="101677"/>
                </a:lnTo>
                <a:quadBezTo>
                  <a:pt x="40839" y="101600"/>
                  <a:pt x="42667" y="103536"/>
                </a:quadBezTo>
                <a:quadBezTo>
                  <a:pt x="44603" y="105365"/>
                  <a:pt x="44527" y="108027"/>
                </a:quadBezTo>
                <a:quadBezTo>
                  <a:pt x="44603" y="110689"/>
                  <a:pt x="42667" y="112517"/>
                </a:quadBezTo>
                <a:quadBezTo>
                  <a:pt x="40839" y="114453"/>
                  <a:pt x="38177" y="114377"/>
                </a:quadBezTo>
                <a:close/>
                <a:moveTo>
                  <a:pt x="101677" y="101677"/>
                </a:moveTo>
                <a:lnTo>
                  <a:pt x="76277" y="101677"/>
                </a:lnTo>
                <a:quadBezTo>
                  <a:pt x="73615" y="101600"/>
                  <a:pt x="71786" y="103536"/>
                </a:quadBezTo>
                <a:quadBezTo>
                  <a:pt x="69850" y="105365"/>
                  <a:pt x="69927" y="108027"/>
                </a:quadBezTo>
                <a:quadBezTo>
                  <a:pt x="69850" y="110689"/>
                  <a:pt x="71786" y="112517"/>
                </a:quadBezTo>
                <a:quadBezTo>
                  <a:pt x="73615" y="114453"/>
                  <a:pt x="76277" y="114377"/>
                </a:quadBezTo>
                <a:lnTo>
                  <a:pt x="108027" y="114377"/>
                </a:lnTo>
                <a:quadBezTo>
                  <a:pt x="110689" y="114453"/>
                  <a:pt x="112517" y="112517"/>
                </a:quadBezTo>
                <a:quadBezTo>
                  <a:pt x="114453" y="110689"/>
                  <a:pt x="114377" y="108027"/>
                </a:quadBezTo>
                <a:lnTo>
                  <a:pt x="114377" y="76277"/>
                </a:lnTo>
                <a:quadBezTo>
                  <a:pt x="114453" y="73615"/>
                  <a:pt x="112517" y="71786"/>
                </a:quadBezTo>
                <a:quadBezTo>
                  <a:pt x="110689" y="69850"/>
                  <a:pt x="108027" y="69927"/>
                </a:quadBezTo>
                <a:quadBezTo>
                  <a:pt x="105365" y="69850"/>
                  <a:pt x="103536" y="71786"/>
                </a:quadBezTo>
                <a:quadBezTo>
                  <a:pt x="101600" y="73615"/>
                  <a:pt x="101677" y="76277"/>
                </a:quadBezTo>
                <a:lnTo>
                  <a:pt x="101677" y="101677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"/>
          <p:cNvSpPr/>
          <p:nvPr/>
        </p:nvSpPr>
        <p:spPr>
          <a:xfrm>
            <a:off x="10201275" y="4791075"/>
            <a:ext cx="542925" cy="295275"/>
          </a:xfrm>
          <a:prstGeom prst="roundRect">
            <a:avLst>
              <a:gd name="adj" fmla="val 19354"/>
            </a:avLst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Path"/>
          <p:cNvSpPr/>
          <p:nvPr/>
        </p:nvSpPr>
        <p:spPr>
          <a:xfrm>
            <a:off x="10302647" y="4909116"/>
            <a:ext cx="63955" cy="73480"/>
          </a:xfrm>
          <a:custGeom>
            <a:avLst/>
            <a:gdLst/>
            <a:ahLst/>
            <a:cxnLst/>
            <a:rect l="0" t="0" r="r" b="b"/>
            <a:pathLst>
              <a:path w="63955" h="73480">
                <a:moveTo>
                  <a:pt x="1743" y="27937"/>
                </a:moveTo>
                <a:lnTo>
                  <a:pt x="27937" y="1743"/>
                </a:lnTo>
                <a:quadBezTo>
                  <a:pt x="29582" y="0"/>
                  <a:pt x="31978" y="69"/>
                </a:quadBezTo>
                <a:quadBezTo>
                  <a:pt x="34374" y="0"/>
                  <a:pt x="36019" y="1743"/>
                </a:quadBezTo>
                <a:lnTo>
                  <a:pt x="62213" y="27937"/>
                </a:lnTo>
                <a:quadBezTo>
                  <a:pt x="63955" y="29582"/>
                  <a:pt x="63886" y="31978"/>
                </a:quadBezTo>
                <a:quadBezTo>
                  <a:pt x="63955" y="34373"/>
                  <a:pt x="62213" y="36019"/>
                </a:quadBezTo>
                <a:quadBezTo>
                  <a:pt x="60567" y="37762"/>
                  <a:pt x="58171" y="37693"/>
                </a:quadBezTo>
                <a:quadBezTo>
                  <a:pt x="55776" y="37762"/>
                  <a:pt x="54130" y="36019"/>
                </a:quadBezTo>
                <a:lnTo>
                  <a:pt x="37693" y="19581"/>
                </a:lnTo>
                <a:lnTo>
                  <a:pt x="37693" y="67696"/>
                </a:lnTo>
                <a:quadBezTo>
                  <a:pt x="37762" y="70092"/>
                  <a:pt x="36019" y="71738"/>
                </a:quadBezTo>
                <a:quadBezTo>
                  <a:pt x="34373" y="73480"/>
                  <a:pt x="31978" y="73411"/>
                </a:quadBezTo>
                <a:quadBezTo>
                  <a:pt x="29582" y="73480"/>
                  <a:pt x="27937" y="71738"/>
                </a:quadBezTo>
                <a:quadBezTo>
                  <a:pt x="26194" y="70092"/>
                  <a:pt x="26263" y="67696"/>
                </a:quadBezTo>
                <a:lnTo>
                  <a:pt x="26263" y="19581"/>
                </a:lnTo>
                <a:lnTo>
                  <a:pt x="9825" y="36019"/>
                </a:lnTo>
                <a:quadBezTo>
                  <a:pt x="8180" y="37762"/>
                  <a:pt x="5784" y="37693"/>
                </a:quadBezTo>
                <a:quadBezTo>
                  <a:pt x="3388" y="37762"/>
                  <a:pt x="1743" y="36019"/>
                </a:quadBezTo>
                <a:quadBezTo>
                  <a:pt x="0" y="34373"/>
                  <a:pt x="69" y="31978"/>
                </a:quadBezTo>
                <a:quadBezTo>
                  <a:pt x="0" y="29582"/>
                  <a:pt x="1743" y="27937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"/>
          <p:cNvSpPr txBox="1"/>
          <p:nvPr/>
        </p:nvSpPr>
        <p:spPr>
          <a:xfrm>
            <a:off x="10439400" y="4867275"/>
            <a:ext cx="2286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FFFFFF"/>
                </a:solidFill>
                <a:latin typeface="Inter"/>
                <a:ea typeface="Inter"/>
                <a:cs typeface="Inter"/>
              </a:rPr>
              <a:t>上传</a:t>
            </a:r>
          </a:p>
        </p:txBody>
      </p:sp>
      <p:sp>
        <p:nvSpPr>
          <p:cNvPr id="55" name="Rectangle"/>
          <p:cNvSpPr/>
          <p:nvPr/>
        </p:nvSpPr>
        <p:spPr>
          <a:xfrm>
            <a:off x="609600" y="5200650"/>
            <a:ext cx="10248900" cy="333375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714375" y="53054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名称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8048625" y="53054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大小</a:t>
            </a:r>
          </a:p>
        </p:txBody>
      </p:sp>
      <p:sp>
        <p:nvSpPr>
          <p:cNvPr id="58" name="TextBox"/>
          <p:cNvSpPr txBox="1"/>
          <p:nvPr/>
        </p:nvSpPr>
        <p:spPr>
          <a:xfrm>
            <a:off x="8905875" y="5305425"/>
            <a:ext cx="4191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修改时间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9953625" y="530542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权限</a:t>
            </a:r>
          </a:p>
        </p:txBody>
      </p:sp>
      <p:sp>
        <p:nvSpPr>
          <p:cNvPr id="60" name="Rectangle"/>
          <p:cNvSpPr/>
          <p:nvPr/>
        </p:nvSpPr>
        <p:spPr>
          <a:xfrm>
            <a:off x="609600" y="5534025"/>
            <a:ext cx="10248900" cy="361950"/>
          </a:xfrm>
          <a:prstGeom prst="roundRect">
            <a:avLst>
              <a:gd name="adj" fmla="val 15789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"/>
          <p:cNvSpPr/>
          <p:nvPr/>
        </p:nvSpPr>
        <p:spPr>
          <a:xfrm>
            <a:off x="738188" y="5663208"/>
            <a:ext cx="95250" cy="113109"/>
          </a:xfrm>
          <a:prstGeom prst="roundRect">
            <a:avLst>
              <a:gd name="adj" fmla="val 12500"/>
            </a:avLst>
          </a:prstGeom>
          <a:noFill/>
          <a:ln w="11906">
            <a:solidFill>
              <a:srgbClr val="1A73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2" name="Path"/>
          <p:cNvSpPr/>
          <p:nvPr/>
        </p:nvSpPr>
        <p:spPr>
          <a:xfrm>
            <a:off x="758952" y="5689925"/>
            <a:ext cx="53722" cy="59675"/>
          </a:xfrm>
          <a:custGeom>
            <a:avLst/>
            <a:gdLst/>
            <a:ahLst/>
            <a:cxnLst/>
            <a:rect l="0" t="0" r="r" b="b"/>
            <a:pathLst>
              <a:path w="53722" h="59675">
                <a:moveTo>
                  <a:pt x="47697" y="72"/>
                </a:moveTo>
                <a:lnTo>
                  <a:pt x="6025" y="72"/>
                </a:lnTo>
                <a:quadBezTo>
                  <a:pt x="3529" y="0"/>
                  <a:pt x="1815" y="1815"/>
                </a:quadBezTo>
                <a:quadBezTo>
                  <a:pt x="0" y="3529"/>
                  <a:pt x="72" y="6025"/>
                </a:quadBezTo>
                <a:quadBezTo>
                  <a:pt x="0" y="8521"/>
                  <a:pt x="1815" y="10234"/>
                </a:quadBezTo>
                <a:quadBezTo>
                  <a:pt x="3529" y="12050"/>
                  <a:pt x="6025" y="11978"/>
                </a:quadBezTo>
                <a:lnTo>
                  <a:pt x="47697" y="11978"/>
                </a:lnTo>
                <a:quadBezTo>
                  <a:pt x="50192" y="12050"/>
                  <a:pt x="51906" y="10234"/>
                </a:quadBezTo>
                <a:quadBezTo>
                  <a:pt x="53722" y="8521"/>
                  <a:pt x="53650" y="6025"/>
                </a:quadBezTo>
                <a:quadBezTo>
                  <a:pt x="53722" y="3529"/>
                  <a:pt x="51906" y="1815"/>
                </a:quadBezTo>
                <a:quadBezTo>
                  <a:pt x="50192" y="0"/>
                  <a:pt x="47697" y="72"/>
                </a:quadBezTo>
                <a:close/>
                <a:moveTo>
                  <a:pt x="47697" y="23884"/>
                </a:moveTo>
                <a:lnTo>
                  <a:pt x="6025" y="23884"/>
                </a:lnTo>
                <a:quadBezTo>
                  <a:pt x="3529" y="23813"/>
                  <a:pt x="1815" y="25628"/>
                </a:quadBezTo>
                <a:quadBezTo>
                  <a:pt x="0" y="27342"/>
                  <a:pt x="72" y="29837"/>
                </a:quadBezTo>
                <a:quadBezTo>
                  <a:pt x="0" y="32333"/>
                  <a:pt x="1815" y="34047"/>
                </a:quadBezTo>
                <a:quadBezTo>
                  <a:pt x="3529" y="35862"/>
                  <a:pt x="6025" y="35791"/>
                </a:quadBezTo>
                <a:lnTo>
                  <a:pt x="47697" y="35791"/>
                </a:lnTo>
                <a:quadBezTo>
                  <a:pt x="50192" y="35862"/>
                  <a:pt x="51906" y="34047"/>
                </a:quadBezTo>
                <a:quadBezTo>
                  <a:pt x="53722" y="32333"/>
                  <a:pt x="53650" y="29837"/>
                </a:quadBezTo>
                <a:quadBezTo>
                  <a:pt x="53722" y="27342"/>
                  <a:pt x="51906" y="25628"/>
                </a:quadBezTo>
                <a:quadBezTo>
                  <a:pt x="50192" y="23813"/>
                  <a:pt x="47697" y="23884"/>
                </a:quadBezTo>
                <a:close/>
                <a:moveTo>
                  <a:pt x="32814" y="47697"/>
                </a:moveTo>
                <a:lnTo>
                  <a:pt x="6025" y="47697"/>
                </a:lnTo>
                <a:quadBezTo>
                  <a:pt x="3529" y="47625"/>
                  <a:pt x="1815" y="49440"/>
                </a:quadBezTo>
                <a:quadBezTo>
                  <a:pt x="0" y="51154"/>
                  <a:pt x="72" y="53650"/>
                </a:quadBezTo>
                <a:quadBezTo>
                  <a:pt x="0" y="56146"/>
                  <a:pt x="1815" y="57859"/>
                </a:quadBezTo>
                <a:quadBezTo>
                  <a:pt x="3529" y="59675"/>
                  <a:pt x="6025" y="59603"/>
                </a:quadBezTo>
                <a:lnTo>
                  <a:pt x="32814" y="59603"/>
                </a:lnTo>
                <a:quadBezTo>
                  <a:pt x="35310" y="59675"/>
                  <a:pt x="37024" y="57859"/>
                </a:quadBezTo>
                <a:quadBezTo>
                  <a:pt x="38839" y="56146"/>
                  <a:pt x="38767" y="53650"/>
                </a:quadBezTo>
                <a:quadBezTo>
                  <a:pt x="38839" y="51154"/>
                  <a:pt x="37024" y="49440"/>
                </a:quadBezTo>
                <a:quadBezTo>
                  <a:pt x="35310" y="47625"/>
                  <a:pt x="32814" y="47697"/>
                </a:quad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"/>
          <p:cNvSpPr txBox="1"/>
          <p:nvPr/>
        </p:nvSpPr>
        <p:spPr>
          <a:xfrm>
            <a:off x="933450" y="56388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A73E8"/>
                </a:solidFill>
                <a:latin typeface="JetBrains Mono"/>
                <a:ea typeface="JetBrains Mono"/>
                <a:cs typeface="JetBrains Mono"/>
              </a:rPr>
              <a:t>index.html</a:t>
            </a:r>
          </a:p>
        </p:txBody>
      </p:sp>
      <p:sp>
        <p:nvSpPr>
          <p:cNvPr id="64" name="TextBox"/>
          <p:cNvSpPr txBox="1"/>
          <p:nvPr/>
        </p:nvSpPr>
        <p:spPr>
          <a:xfrm>
            <a:off x="8048625" y="56388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A73E8"/>
                </a:solidFill>
                <a:latin typeface="JetBrains Mono"/>
                <a:ea typeface="JetBrains Mono"/>
                <a:cs typeface="JetBrains Mono"/>
              </a:rPr>
              <a:t>6.4 KB</a:t>
            </a:r>
          </a:p>
        </p:txBody>
      </p:sp>
      <p:sp>
        <p:nvSpPr>
          <p:cNvPr id="65" name="TextBox"/>
          <p:cNvSpPr txBox="1"/>
          <p:nvPr/>
        </p:nvSpPr>
        <p:spPr>
          <a:xfrm>
            <a:off x="8905875" y="56388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A73E8"/>
                </a:solidFill>
                <a:latin typeface="JetBrains Mono"/>
                <a:ea typeface="JetBrains Mono"/>
                <a:cs typeface="JetBrains Mono"/>
              </a:rPr>
              <a:t>10-18 12:20</a:t>
            </a:r>
          </a:p>
        </p:txBody>
      </p:sp>
      <p:sp>
        <p:nvSpPr>
          <p:cNvPr id="66" name="TextBox"/>
          <p:cNvSpPr txBox="1"/>
          <p:nvPr/>
        </p:nvSpPr>
        <p:spPr>
          <a:xfrm>
            <a:off x="9953625" y="5648325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1A73E8"/>
                </a:solidFill>
                <a:latin typeface="JetBrains Mono"/>
                <a:ea typeface="JetBrains Mono"/>
                <a:cs typeface="JetBrains Mono"/>
              </a:rPr>
              <a:t>-rw-r--r--</a:t>
            </a:r>
          </a:p>
        </p:txBody>
      </p:sp>
      <p:sp>
        <p:nvSpPr>
          <p:cNvPr id="67" name="Path"/>
          <p:cNvSpPr/>
          <p:nvPr/>
        </p:nvSpPr>
        <p:spPr>
          <a:xfrm>
            <a:off x="729258" y="6034083"/>
            <a:ext cx="125016" cy="104184"/>
          </a:xfrm>
          <a:custGeom>
            <a:avLst/>
            <a:gdLst/>
            <a:ahLst/>
            <a:cxnLst/>
            <a:rect l="0" t="0" r="r" b="b"/>
            <a:pathLst>
              <a:path w="125016" h="104184">
                <a:moveTo>
                  <a:pt x="5231" y="5235"/>
                </a:moveTo>
                <a:quadBezTo>
                  <a:pt x="10462" y="4"/>
                  <a:pt x="17859" y="4"/>
                </a:quadBezTo>
                <a:lnTo>
                  <a:pt x="42863" y="4"/>
                </a:lnTo>
                <a:quadBezTo>
                  <a:pt x="44048" y="0"/>
                  <a:pt x="45141" y="458"/>
                </a:quadBezTo>
                <a:quadBezTo>
                  <a:pt x="46237" y="907"/>
                  <a:pt x="47072" y="1748"/>
                </a:quadBezTo>
                <a:lnTo>
                  <a:pt x="57235" y="11911"/>
                </a:lnTo>
                <a:lnTo>
                  <a:pt x="107156" y="11911"/>
                </a:lnTo>
                <a:quadBezTo>
                  <a:pt x="114554" y="11911"/>
                  <a:pt x="119785" y="17142"/>
                </a:quadBezTo>
                <a:quadBezTo>
                  <a:pt x="125016" y="22372"/>
                  <a:pt x="125016" y="29770"/>
                </a:quadBezTo>
                <a:lnTo>
                  <a:pt x="125016" y="86325"/>
                </a:lnTo>
                <a:quadBezTo>
                  <a:pt x="125016" y="93722"/>
                  <a:pt x="119785" y="98953"/>
                </a:quadBezTo>
                <a:quadBezTo>
                  <a:pt x="114554" y="104184"/>
                  <a:pt x="107156" y="104184"/>
                </a:quadBezTo>
                <a:lnTo>
                  <a:pt x="17859" y="104184"/>
                </a:lnTo>
                <a:quadBezTo>
                  <a:pt x="10462" y="104184"/>
                  <a:pt x="5231" y="98953"/>
                </a:quadBezTo>
                <a:quadBezTo>
                  <a:pt x="0" y="93722"/>
                  <a:pt x="0" y="86325"/>
                </a:quadBezTo>
                <a:lnTo>
                  <a:pt x="0" y="17864"/>
                </a:lnTo>
                <a:quadBezTo>
                  <a:pt x="0" y="10466"/>
                  <a:pt x="5231" y="5235"/>
                </a:quadBezTo>
                <a:lnTo>
                  <a:pt x="5231" y="5235"/>
                </a:lnTo>
                <a:close/>
                <a:moveTo>
                  <a:pt x="13650" y="13654"/>
                </a:moveTo>
                <a:quadBezTo>
                  <a:pt x="11906" y="15398"/>
                  <a:pt x="11906" y="17864"/>
                </a:quadBezTo>
                <a:lnTo>
                  <a:pt x="11906" y="86325"/>
                </a:lnTo>
                <a:quadBezTo>
                  <a:pt x="11906" y="88791"/>
                  <a:pt x="13650" y="90534"/>
                </a:quadBezTo>
                <a:quadBezTo>
                  <a:pt x="15394" y="92278"/>
                  <a:pt x="17859" y="92278"/>
                </a:quadBezTo>
                <a:lnTo>
                  <a:pt x="107156" y="92278"/>
                </a:lnTo>
                <a:quadBezTo>
                  <a:pt x="109622" y="92278"/>
                  <a:pt x="111366" y="90534"/>
                </a:quadBezTo>
                <a:quadBezTo>
                  <a:pt x="113109" y="88791"/>
                  <a:pt x="113109" y="86325"/>
                </a:quadBezTo>
                <a:lnTo>
                  <a:pt x="113109" y="29770"/>
                </a:lnTo>
                <a:quadBezTo>
                  <a:pt x="113109" y="27304"/>
                  <a:pt x="111366" y="25561"/>
                </a:quadBezTo>
                <a:quadBezTo>
                  <a:pt x="109622" y="23817"/>
                  <a:pt x="107156" y="23817"/>
                </a:quadBezTo>
                <a:lnTo>
                  <a:pt x="54769" y="23817"/>
                </a:lnTo>
                <a:quadBezTo>
                  <a:pt x="53584" y="23821"/>
                  <a:pt x="52491" y="23364"/>
                </a:quadBezTo>
                <a:quadBezTo>
                  <a:pt x="51394" y="22914"/>
                  <a:pt x="50559" y="22073"/>
                </a:quadBezTo>
                <a:lnTo>
                  <a:pt x="40397" y="11911"/>
                </a:lnTo>
                <a:lnTo>
                  <a:pt x="17859" y="11911"/>
                </a:lnTo>
                <a:quadBezTo>
                  <a:pt x="15394" y="11911"/>
                  <a:pt x="13650" y="13654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"/>
          <p:cNvSpPr txBox="1"/>
          <p:nvPr/>
        </p:nvSpPr>
        <p:spPr>
          <a:xfrm>
            <a:off x="933450" y="600075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assets</a:t>
            </a:r>
          </a:p>
        </p:txBody>
      </p:sp>
      <p:sp>
        <p:nvSpPr>
          <p:cNvPr id="69" name="TextBox"/>
          <p:cNvSpPr txBox="1"/>
          <p:nvPr/>
        </p:nvSpPr>
        <p:spPr>
          <a:xfrm>
            <a:off x="8905875" y="600075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10-12 20:05</a:t>
            </a:r>
          </a:p>
        </p:txBody>
      </p:sp>
      <p:sp>
        <p:nvSpPr>
          <p:cNvPr id="70" name="TextBox"/>
          <p:cNvSpPr txBox="1"/>
          <p:nvPr/>
        </p:nvSpPr>
        <p:spPr>
          <a:xfrm>
            <a:off x="9953625" y="6010275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drwxr-xr-x</a:t>
            </a:r>
          </a:p>
        </p:txBody>
      </p:sp>
      <p:sp>
        <p:nvSpPr>
          <p:cNvPr id="71" name="Rectangle"/>
          <p:cNvSpPr/>
          <p:nvPr/>
        </p:nvSpPr>
        <p:spPr>
          <a:xfrm>
            <a:off x="738188" y="6387108"/>
            <a:ext cx="95250" cy="113109"/>
          </a:xfrm>
          <a:prstGeom prst="roundRect">
            <a:avLst>
              <a:gd name="adj" fmla="val 12500"/>
            </a:avLst>
          </a:prstGeom>
          <a:noFill/>
          <a:ln w="11906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2" name="Path"/>
          <p:cNvSpPr/>
          <p:nvPr/>
        </p:nvSpPr>
        <p:spPr>
          <a:xfrm>
            <a:off x="758952" y="6413825"/>
            <a:ext cx="53722" cy="59675"/>
          </a:xfrm>
          <a:custGeom>
            <a:avLst/>
            <a:gdLst/>
            <a:ahLst/>
            <a:cxnLst/>
            <a:rect l="0" t="0" r="r" b="b"/>
            <a:pathLst>
              <a:path w="53722" h="59675">
                <a:moveTo>
                  <a:pt x="47697" y="72"/>
                </a:moveTo>
                <a:lnTo>
                  <a:pt x="6025" y="72"/>
                </a:lnTo>
                <a:quadBezTo>
                  <a:pt x="3529" y="0"/>
                  <a:pt x="1815" y="1815"/>
                </a:quadBezTo>
                <a:quadBezTo>
                  <a:pt x="0" y="3529"/>
                  <a:pt x="72" y="6025"/>
                </a:quadBezTo>
                <a:quadBezTo>
                  <a:pt x="0" y="8521"/>
                  <a:pt x="1815" y="10234"/>
                </a:quadBezTo>
                <a:quadBezTo>
                  <a:pt x="3529" y="12050"/>
                  <a:pt x="6025" y="11978"/>
                </a:quadBezTo>
                <a:lnTo>
                  <a:pt x="47697" y="11978"/>
                </a:lnTo>
                <a:quadBezTo>
                  <a:pt x="50192" y="12050"/>
                  <a:pt x="51906" y="10234"/>
                </a:quadBezTo>
                <a:quadBezTo>
                  <a:pt x="53722" y="8521"/>
                  <a:pt x="53650" y="6025"/>
                </a:quadBezTo>
                <a:quadBezTo>
                  <a:pt x="53722" y="3529"/>
                  <a:pt x="51906" y="1815"/>
                </a:quadBezTo>
                <a:quadBezTo>
                  <a:pt x="50192" y="0"/>
                  <a:pt x="47697" y="72"/>
                </a:quadBezTo>
                <a:close/>
                <a:moveTo>
                  <a:pt x="47697" y="23884"/>
                </a:moveTo>
                <a:lnTo>
                  <a:pt x="6025" y="23884"/>
                </a:lnTo>
                <a:quadBezTo>
                  <a:pt x="3529" y="23813"/>
                  <a:pt x="1815" y="25628"/>
                </a:quadBezTo>
                <a:quadBezTo>
                  <a:pt x="0" y="27342"/>
                  <a:pt x="72" y="29837"/>
                </a:quadBezTo>
                <a:quadBezTo>
                  <a:pt x="0" y="32333"/>
                  <a:pt x="1815" y="34047"/>
                </a:quadBezTo>
                <a:quadBezTo>
                  <a:pt x="3529" y="35862"/>
                  <a:pt x="6025" y="35791"/>
                </a:quadBezTo>
                <a:lnTo>
                  <a:pt x="47697" y="35791"/>
                </a:lnTo>
                <a:quadBezTo>
                  <a:pt x="50192" y="35862"/>
                  <a:pt x="51906" y="34047"/>
                </a:quadBezTo>
                <a:quadBezTo>
                  <a:pt x="53722" y="32333"/>
                  <a:pt x="53650" y="29837"/>
                </a:quadBezTo>
                <a:quadBezTo>
                  <a:pt x="53722" y="27342"/>
                  <a:pt x="51906" y="25628"/>
                </a:quadBezTo>
                <a:quadBezTo>
                  <a:pt x="50192" y="23813"/>
                  <a:pt x="47697" y="23884"/>
                </a:quadBezTo>
                <a:close/>
                <a:moveTo>
                  <a:pt x="32814" y="47697"/>
                </a:moveTo>
                <a:lnTo>
                  <a:pt x="6025" y="47697"/>
                </a:lnTo>
                <a:quadBezTo>
                  <a:pt x="3529" y="47625"/>
                  <a:pt x="1815" y="49440"/>
                </a:quadBezTo>
                <a:quadBezTo>
                  <a:pt x="0" y="51154"/>
                  <a:pt x="72" y="53650"/>
                </a:quadBezTo>
                <a:quadBezTo>
                  <a:pt x="0" y="56146"/>
                  <a:pt x="1815" y="57859"/>
                </a:quadBezTo>
                <a:quadBezTo>
                  <a:pt x="3529" y="59675"/>
                  <a:pt x="6025" y="59603"/>
                </a:quadBezTo>
                <a:lnTo>
                  <a:pt x="32814" y="59603"/>
                </a:lnTo>
                <a:quadBezTo>
                  <a:pt x="35310" y="59675"/>
                  <a:pt x="37024" y="57859"/>
                </a:quadBezTo>
                <a:quadBezTo>
                  <a:pt x="38839" y="56146"/>
                  <a:pt x="38767" y="53650"/>
                </a:quadBezTo>
                <a:quadBezTo>
                  <a:pt x="38839" y="51154"/>
                  <a:pt x="37024" y="49440"/>
                </a:quadBezTo>
                <a:quadBezTo>
                  <a:pt x="35310" y="47625"/>
                  <a:pt x="32814" y="47697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Box"/>
          <p:cNvSpPr txBox="1"/>
          <p:nvPr/>
        </p:nvSpPr>
        <p:spPr>
          <a:xfrm>
            <a:off x="933450" y="63627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app.js</a:t>
            </a:r>
          </a:p>
        </p:txBody>
      </p:sp>
      <p:sp>
        <p:nvSpPr>
          <p:cNvPr id="74" name="TextBox"/>
          <p:cNvSpPr txBox="1"/>
          <p:nvPr/>
        </p:nvSpPr>
        <p:spPr>
          <a:xfrm>
            <a:off x="8048625" y="63627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128 KB</a:t>
            </a:r>
          </a:p>
        </p:txBody>
      </p:sp>
      <p:sp>
        <p:nvSpPr>
          <p:cNvPr id="75" name="TextBox"/>
          <p:cNvSpPr txBox="1"/>
          <p:nvPr/>
        </p:nvSpPr>
        <p:spPr>
          <a:xfrm>
            <a:off x="8905875" y="63627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10-11 15:33</a:t>
            </a:r>
          </a:p>
        </p:txBody>
      </p:sp>
      <p:sp>
        <p:nvSpPr>
          <p:cNvPr id="76" name="TextBox"/>
          <p:cNvSpPr txBox="1"/>
          <p:nvPr/>
        </p:nvSpPr>
        <p:spPr>
          <a:xfrm>
            <a:off x="9953625" y="6372225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-rw-r--r--</a:t>
            </a:r>
          </a:p>
        </p:txBody>
      </p:sp>
      <p:sp>
        <p:nvSpPr>
          <p:cNvPr id="77" name="Rectangle"/>
          <p:cNvSpPr/>
          <p:nvPr/>
        </p:nvSpPr>
        <p:spPr>
          <a:xfrm>
            <a:off x="738188" y="6749058"/>
            <a:ext cx="95250" cy="113109"/>
          </a:xfrm>
          <a:prstGeom prst="roundRect">
            <a:avLst>
              <a:gd name="adj" fmla="val 12500"/>
            </a:avLst>
          </a:prstGeom>
          <a:noFill/>
          <a:ln w="11906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8" name="Path"/>
          <p:cNvSpPr/>
          <p:nvPr/>
        </p:nvSpPr>
        <p:spPr>
          <a:xfrm>
            <a:off x="758952" y="6775775"/>
            <a:ext cx="53722" cy="59675"/>
          </a:xfrm>
          <a:custGeom>
            <a:avLst/>
            <a:gdLst/>
            <a:ahLst/>
            <a:cxnLst/>
            <a:rect l="0" t="0" r="r" b="b"/>
            <a:pathLst>
              <a:path w="53722" h="59675">
                <a:moveTo>
                  <a:pt x="47697" y="72"/>
                </a:moveTo>
                <a:lnTo>
                  <a:pt x="6025" y="72"/>
                </a:lnTo>
                <a:quadBezTo>
                  <a:pt x="3529" y="0"/>
                  <a:pt x="1815" y="1815"/>
                </a:quadBezTo>
                <a:quadBezTo>
                  <a:pt x="0" y="3529"/>
                  <a:pt x="72" y="6025"/>
                </a:quadBezTo>
                <a:quadBezTo>
                  <a:pt x="0" y="8521"/>
                  <a:pt x="1815" y="10234"/>
                </a:quadBezTo>
                <a:quadBezTo>
                  <a:pt x="3529" y="12050"/>
                  <a:pt x="6025" y="11978"/>
                </a:quadBezTo>
                <a:lnTo>
                  <a:pt x="47697" y="11978"/>
                </a:lnTo>
                <a:quadBezTo>
                  <a:pt x="50192" y="12050"/>
                  <a:pt x="51906" y="10234"/>
                </a:quadBezTo>
                <a:quadBezTo>
                  <a:pt x="53722" y="8521"/>
                  <a:pt x="53650" y="6025"/>
                </a:quadBezTo>
                <a:quadBezTo>
                  <a:pt x="53722" y="3529"/>
                  <a:pt x="51906" y="1815"/>
                </a:quadBezTo>
                <a:quadBezTo>
                  <a:pt x="50192" y="0"/>
                  <a:pt x="47697" y="72"/>
                </a:quadBezTo>
                <a:close/>
                <a:moveTo>
                  <a:pt x="47697" y="23884"/>
                </a:moveTo>
                <a:lnTo>
                  <a:pt x="6025" y="23884"/>
                </a:lnTo>
                <a:quadBezTo>
                  <a:pt x="3529" y="23813"/>
                  <a:pt x="1815" y="25628"/>
                </a:quadBezTo>
                <a:quadBezTo>
                  <a:pt x="0" y="27342"/>
                  <a:pt x="72" y="29837"/>
                </a:quadBezTo>
                <a:quadBezTo>
                  <a:pt x="0" y="32333"/>
                  <a:pt x="1815" y="34047"/>
                </a:quadBezTo>
                <a:quadBezTo>
                  <a:pt x="3529" y="35862"/>
                  <a:pt x="6025" y="35791"/>
                </a:quadBezTo>
                <a:lnTo>
                  <a:pt x="47697" y="35791"/>
                </a:lnTo>
                <a:quadBezTo>
                  <a:pt x="50192" y="35862"/>
                  <a:pt x="51906" y="34047"/>
                </a:quadBezTo>
                <a:quadBezTo>
                  <a:pt x="53722" y="32333"/>
                  <a:pt x="53650" y="29837"/>
                </a:quadBezTo>
                <a:quadBezTo>
                  <a:pt x="53722" y="27342"/>
                  <a:pt x="51906" y="25628"/>
                </a:quadBezTo>
                <a:quadBezTo>
                  <a:pt x="50192" y="23813"/>
                  <a:pt x="47697" y="23884"/>
                </a:quadBezTo>
                <a:close/>
                <a:moveTo>
                  <a:pt x="32814" y="47697"/>
                </a:moveTo>
                <a:lnTo>
                  <a:pt x="6025" y="47697"/>
                </a:lnTo>
                <a:quadBezTo>
                  <a:pt x="3529" y="47625"/>
                  <a:pt x="1815" y="49440"/>
                </a:quadBezTo>
                <a:quadBezTo>
                  <a:pt x="0" y="51154"/>
                  <a:pt x="72" y="53650"/>
                </a:quadBezTo>
                <a:quadBezTo>
                  <a:pt x="0" y="56146"/>
                  <a:pt x="1815" y="57859"/>
                </a:quadBezTo>
                <a:quadBezTo>
                  <a:pt x="3529" y="59675"/>
                  <a:pt x="6025" y="59603"/>
                </a:quadBezTo>
                <a:lnTo>
                  <a:pt x="32814" y="59603"/>
                </a:lnTo>
                <a:quadBezTo>
                  <a:pt x="35310" y="59675"/>
                  <a:pt x="37024" y="57859"/>
                </a:quadBezTo>
                <a:quadBezTo>
                  <a:pt x="38839" y="56146"/>
                  <a:pt x="38767" y="53650"/>
                </a:quadBezTo>
                <a:quadBezTo>
                  <a:pt x="38839" y="51154"/>
                  <a:pt x="37024" y="49440"/>
                </a:quadBezTo>
                <a:quadBezTo>
                  <a:pt x="35310" y="47625"/>
                  <a:pt x="32814" y="47697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Box"/>
          <p:cNvSpPr txBox="1"/>
          <p:nvPr/>
        </p:nvSpPr>
        <p:spPr>
          <a:xfrm>
            <a:off x="933450" y="6724650"/>
            <a:ext cx="274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.env</a:t>
            </a:r>
          </a:p>
        </p:txBody>
      </p:sp>
      <p:sp>
        <p:nvSpPr>
          <p:cNvPr id="80" name="TextBox"/>
          <p:cNvSpPr txBox="1"/>
          <p:nvPr/>
        </p:nvSpPr>
        <p:spPr>
          <a:xfrm>
            <a:off x="8048625" y="672465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1.2 KB</a:t>
            </a:r>
          </a:p>
        </p:txBody>
      </p:sp>
      <p:sp>
        <p:nvSpPr>
          <p:cNvPr id="81" name="TextBox"/>
          <p:cNvSpPr txBox="1"/>
          <p:nvPr/>
        </p:nvSpPr>
        <p:spPr>
          <a:xfrm>
            <a:off x="8905875" y="672465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10-09 11:48</a:t>
            </a:r>
          </a:p>
        </p:txBody>
      </p:sp>
      <p:sp>
        <p:nvSpPr>
          <p:cNvPr id="82" name="TextBox"/>
          <p:cNvSpPr txBox="1"/>
          <p:nvPr/>
        </p:nvSpPr>
        <p:spPr>
          <a:xfrm>
            <a:off x="9953625" y="6734175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-rw-------</a:t>
            </a:r>
          </a:p>
        </p:txBody>
      </p:sp>
      <p:sp>
        <p:nvSpPr>
          <p:cNvPr id="83" name="Rectangle"/>
          <p:cNvSpPr/>
          <p:nvPr/>
        </p:nvSpPr>
        <p:spPr>
          <a:xfrm>
            <a:off x="738188" y="7111008"/>
            <a:ext cx="95250" cy="113109"/>
          </a:xfrm>
          <a:prstGeom prst="roundRect">
            <a:avLst>
              <a:gd name="adj" fmla="val 12500"/>
            </a:avLst>
          </a:prstGeom>
          <a:noFill/>
          <a:ln w="11906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4" name="Path"/>
          <p:cNvSpPr/>
          <p:nvPr/>
        </p:nvSpPr>
        <p:spPr>
          <a:xfrm>
            <a:off x="758952" y="7137725"/>
            <a:ext cx="53722" cy="59675"/>
          </a:xfrm>
          <a:custGeom>
            <a:avLst/>
            <a:gdLst/>
            <a:ahLst/>
            <a:cxnLst/>
            <a:rect l="0" t="0" r="r" b="b"/>
            <a:pathLst>
              <a:path w="53722" h="59675">
                <a:moveTo>
                  <a:pt x="47697" y="72"/>
                </a:moveTo>
                <a:lnTo>
                  <a:pt x="6025" y="72"/>
                </a:lnTo>
                <a:quadBezTo>
                  <a:pt x="3529" y="0"/>
                  <a:pt x="1815" y="1815"/>
                </a:quadBezTo>
                <a:quadBezTo>
                  <a:pt x="0" y="3529"/>
                  <a:pt x="72" y="6025"/>
                </a:quadBezTo>
                <a:quadBezTo>
                  <a:pt x="0" y="8521"/>
                  <a:pt x="1815" y="10234"/>
                </a:quadBezTo>
                <a:quadBezTo>
                  <a:pt x="3529" y="12050"/>
                  <a:pt x="6025" y="11978"/>
                </a:quadBezTo>
                <a:lnTo>
                  <a:pt x="47697" y="11978"/>
                </a:lnTo>
                <a:quadBezTo>
                  <a:pt x="50192" y="12050"/>
                  <a:pt x="51906" y="10234"/>
                </a:quadBezTo>
                <a:quadBezTo>
                  <a:pt x="53722" y="8521"/>
                  <a:pt x="53650" y="6025"/>
                </a:quadBezTo>
                <a:quadBezTo>
                  <a:pt x="53722" y="3529"/>
                  <a:pt x="51906" y="1815"/>
                </a:quadBezTo>
                <a:quadBezTo>
                  <a:pt x="50192" y="0"/>
                  <a:pt x="47697" y="72"/>
                </a:quadBezTo>
                <a:close/>
                <a:moveTo>
                  <a:pt x="47697" y="23884"/>
                </a:moveTo>
                <a:lnTo>
                  <a:pt x="6025" y="23884"/>
                </a:lnTo>
                <a:quadBezTo>
                  <a:pt x="3529" y="23813"/>
                  <a:pt x="1815" y="25628"/>
                </a:quadBezTo>
                <a:quadBezTo>
                  <a:pt x="0" y="27342"/>
                  <a:pt x="72" y="29837"/>
                </a:quadBezTo>
                <a:quadBezTo>
                  <a:pt x="0" y="32333"/>
                  <a:pt x="1815" y="34047"/>
                </a:quadBezTo>
                <a:quadBezTo>
                  <a:pt x="3529" y="35862"/>
                  <a:pt x="6025" y="35791"/>
                </a:quadBezTo>
                <a:lnTo>
                  <a:pt x="47697" y="35791"/>
                </a:lnTo>
                <a:quadBezTo>
                  <a:pt x="50192" y="35862"/>
                  <a:pt x="51906" y="34047"/>
                </a:quadBezTo>
                <a:quadBezTo>
                  <a:pt x="53722" y="32333"/>
                  <a:pt x="53650" y="29837"/>
                </a:quadBezTo>
                <a:quadBezTo>
                  <a:pt x="53722" y="27342"/>
                  <a:pt x="51906" y="25628"/>
                </a:quadBezTo>
                <a:quadBezTo>
                  <a:pt x="50192" y="23813"/>
                  <a:pt x="47697" y="23884"/>
                </a:quadBezTo>
                <a:close/>
                <a:moveTo>
                  <a:pt x="32814" y="47697"/>
                </a:moveTo>
                <a:lnTo>
                  <a:pt x="6025" y="47697"/>
                </a:lnTo>
                <a:quadBezTo>
                  <a:pt x="3529" y="47625"/>
                  <a:pt x="1815" y="49440"/>
                </a:quadBezTo>
                <a:quadBezTo>
                  <a:pt x="0" y="51154"/>
                  <a:pt x="72" y="53650"/>
                </a:quadBezTo>
                <a:quadBezTo>
                  <a:pt x="0" y="56146"/>
                  <a:pt x="1815" y="57859"/>
                </a:quadBezTo>
                <a:quadBezTo>
                  <a:pt x="3529" y="59675"/>
                  <a:pt x="6025" y="59603"/>
                </a:quadBezTo>
                <a:lnTo>
                  <a:pt x="32814" y="59603"/>
                </a:lnTo>
                <a:quadBezTo>
                  <a:pt x="35310" y="59675"/>
                  <a:pt x="37024" y="57859"/>
                </a:quadBezTo>
                <a:quadBezTo>
                  <a:pt x="38839" y="56146"/>
                  <a:pt x="38767" y="53650"/>
                </a:quadBezTo>
                <a:quadBezTo>
                  <a:pt x="38839" y="51154"/>
                  <a:pt x="37024" y="49440"/>
                </a:quadBezTo>
                <a:quadBezTo>
                  <a:pt x="35310" y="47625"/>
                  <a:pt x="32814" y="47697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"/>
          <p:cNvSpPr txBox="1"/>
          <p:nvPr/>
        </p:nvSpPr>
        <p:spPr>
          <a:xfrm>
            <a:off x="933450" y="70866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robots.txt</a:t>
            </a:r>
          </a:p>
        </p:txBody>
      </p:sp>
      <p:sp>
        <p:nvSpPr>
          <p:cNvPr id="86" name="TextBox"/>
          <p:cNvSpPr txBox="1"/>
          <p:nvPr/>
        </p:nvSpPr>
        <p:spPr>
          <a:xfrm>
            <a:off x="8048625" y="70866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1.1 KB</a:t>
            </a:r>
          </a:p>
        </p:txBody>
      </p:sp>
      <p:sp>
        <p:nvSpPr>
          <p:cNvPr id="87" name="TextBox"/>
          <p:cNvSpPr txBox="1"/>
          <p:nvPr/>
        </p:nvSpPr>
        <p:spPr>
          <a:xfrm>
            <a:off x="8905875" y="70866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10-05 08:12</a:t>
            </a:r>
          </a:p>
        </p:txBody>
      </p:sp>
      <p:sp>
        <p:nvSpPr>
          <p:cNvPr id="88" name="TextBox"/>
          <p:cNvSpPr txBox="1"/>
          <p:nvPr/>
        </p:nvSpPr>
        <p:spPr>
          <a:xfrm>
            <a:off x="9953625" y="7096125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-rw-r--r--</a:t>
            </a:r>
          </a:p>
        </p:txBody>
      </p:sp>
      <p:sp>
        <p:nvSpPr>
          <p:cNvPr id="89" name="TextBox"/>
          <p:cNvSpPr txBox="1"/>
          <p:nvPr/>
        </p:nvSpPr>
        <p:spPr>
          <a:xfrm>
            <a:off x="609600" y="7343775"/>
            <a:ext cx="249894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双击用默认编辑器打开 · 支持拖拽文件到此处直接上传</a:t>
            </a:r>
          </a:p>
        </p:txBody>
      </p:sp>
      <p:sp>
        <p:nvSpPr>
          <p:cNvPr id="90" name="Rectangle"/>
          <p:cNvSpPr/>
          <p:nvPr/>
        </p:nvSpPr>
        <p:spPr>
          <a:xfrm>
            <a:off x="10858500" y="4676775"/>
            <a:ext cx="2857500" cy="337185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Box"/>
          <p:cNvSpPr txBox="1"/>
          <p:nvPr/>
        </p:nvSpPr>
        <p:spPr>
          <a:xfrm>
            <a:off x="10991850" y="481012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202124"/>
                </a:solidFill>
                <a:latin typeface="Inter Bold"/>
                <a:ea typeface="Inter Bold"/>
                <a:cs typeface="Inter Bold"/>
              </a:rPr>
              <a:t>传输队列</a:t>
            </a:r>
          </a:p>
        </p:txBody>
      </p:sp>
      <p:sp>
        <p:nvSpPr>
          <p:cNvPr id="92" name="TextBox"/>
          <p:cNvSpPr txBox="1"/>
          <p:nvPr/>
        </p:nvSpPr>
        <p:spPr>
          <a:xfrm>
            <a:off x="13211175" y="4829175"/>
            <a:ext cx="370629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9AA0A6"/>
                </a:solidFill>
                <a:latin typeface="Inter"/>
                <a:ea typeface="Inter"/>
                <a:cs typeface="Inter"/>
              </a:rPr>
              <a:t>2 个任务</a:t>
            </a:r>
          </a:p>
        </p:txBody>
      </p:sp>
      <p:sp>
        <p:nvSpPr>
          <p:cNvPr id="93" name="Rectangle"/>
          <p:cNvSpPr/>
          <p:nvPr/>
        </p:nvSpPr>
        <p:spPr>
          <a:xfrm>
            <a:off x="10991850" y="5067300"/>
            <a:ext cx="25908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Box"/>
          <p:cNvSpPr txBox="1"/>
          <p:nvPr/>
        </p:nvSpPr>
        <p:spPr>
          <a:xfrm>
            <a:off x="11087100" y="5162550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backup.sql</a:t>
            </a:r>
          </a:p>
        </p:txBody>
      </p:sp>
      <p:sp>
        <p:nvSpPr>
          <p:cNvPr id="95" name="TextBox"/>
          <p:cNvSpPr txBox="1"/>
          <p:nvPr/>
        </p:nvSpPr>
        <p:spPr>
          <a:xfrm>
            <a:off x="13315950" y="5172075"/>
            <a:ext cx="1714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50">
                <a:solidFill>
                  <a:srgbClr val="1A73E8"/>
                </a:solidFill>
                <a:latin typeface="JetBrains Mono"/>
                <a:ea typeface="JetBrains Mono"/>
                <a:cs typeface="JetBrains Mono"/>
              </a:rPr>
              <a:t>45%</a:t>
            </a:r>
          </a:p>
        </p:txBody>
      </p:sp>
      <p:sp>
        <p:nvSpPr>
          <p:cNvPr id="96" name="Rectangle"/>
          <p:cNvSpPr/>
          <p:nvPr/>
        </p:nvSpPr>
        <p:spPr>
          <a:xfrm>
            <a:off x="11087100" y="5362575"/>
            <a:ext cx="2400300" cy="3810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Rectangle"/>
          <p:cNvSpPr/>
          <p:nvPr/>
        </p:nvSpPr>
        <p:spPr>
          <a:xfrm>
            <a:off x="11087100" y="5362575"/>
            <a:ext cx="1047750" cy="381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Rectangle"/>
          <p:cNvSpPr/>
          <p:nvPr/>
        </p:nvSpPr>
        <p:spPr>
          <a:xfrm>
            <a:off x="10996613" y="5072063"/>
            <a:ext cx="2581275" cy="419100"/>
          </a:xfrm>
          <a:prstGeom prst="roundRect">
            <a:avLst>
              <a:gd name="adj" fmla="val 17045"/>
            </a:avLst>
          </a:prstGeom>
          <a:noFill/>
          <a:ln w="9525">
            <a:solidFill>
              <a:srgbClr val="E5E7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9" name="Rectangle"/>
          <p:cNvSpPr/>
          <p:nvPr/>
        </p:nvSpPr>
        <p:spPr>
          <a:xfrm>
            <a:off x="10991850" y="5610225"/>
            <a:ext cx="25908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"/>
          <p:cNvSpPr txBox="1"/>
          <p:nvPr/>
        </p:nvSpPr>
        <p:spPr>
          <a:xfrm>
            <a:off x="11087100" y="5705475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nginx.conf</a:t>
            </a:r>
          </a:p>
        </p:txBody>
      </p:sp>
      <p:sp>
        <p:nvSpPr>
          <p:cNvPr id="101" name="TextBox"/>
          <p:cNvSpPr txBox="1"/>
          <p:nvPr/>
        </p:nvSpPr>
        <p:spPr>
          <a:xfrm>
            <a:off x="13201650" y="5724525"/>
            <a:ext cx="2857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34A853"/>
                </a:solidFill>
                <a:latin typeface="Inter"/>
                <a:ea typeface="Inter"/>
                <a:cs typeface="Inter"/>
              </a:rPr>
              <a:t>已完成</a:t>
            </a:r>
          </a:p>
        </p:txBody>
      </p:sp>
      <p:sp>
        <p:nvSpPr>
          <p:cNvPr id="102" name="Rectangle"/>
          <p:cNvSpPr/>
          <p:nvPr/>
        </p:nvSpPr>
        <p:spPr>
          <a:xfrm>
            <a:off x="11087100" y="5905500"/>
            <a:ext cx="2400300" cy="3810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Rectangle"/>
          <p:cNvSpPr/>
          <p:nvPr/>
        </p:nvSpPr>
        <p:spPr>
          <a:xfrm>
            <a:off x="11087100" y="5905500"/>
            <a:ext cx="2400300" cy="381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10996613" y="5614988"/>
            <a:ext cx="2581275" cy="419100"/>
          </a:xfrm>
          <a:prstGeom prst="roundRect">
            <a:avLst>
              <a:gd name="adj" fmla="val 17045"/>
            </a:avLst>
          </a:prstGeom>
          <a:noFill/>
          <a:ln w="9525">
            <a:solidFill>
              <a:srgbClr val="E5E7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"/>
          <p:cNvSpPr txBox="1"/>
          <p:nvPr/>
        </p:nvSpPr>
        <p:spPr>
          <a:xfrm>
            <a:off x="10991850" y="6153150"/>
            <a:ext cx="914409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750">
                <a:solidFill>
                  <a:srgbClr val="9AA0A6"/>
                </a:solidFill>
                <a:latin typeface="Inter"/>
                <a:ea typeface="Inter"/>
                <a:cs typeface="Inter"/>
              </a:rPr>
              <a:t>完成后自动停留 10 秒</a:t>
            </a:r>
          </a:p>
        </p:txBody>
      </p:sp>
      <p:sp>
        <p:nvSpPr>
          <p:cNvPr id="106" name="Rectangle"/>
          <p:cNvSpPr/>
          <p:nvPr/>
        </p:nvSpPr>
        <p:spPr>
          <a:xfrm>
            <a:off x="609600" y="8048625"/>
            <a:ext cx="131064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"/>
          <p:cNvSpPr/>
          <p:nvPr/>
        </p:nvSpPr>
        <p:spPr>
          <a:xfrm>
            <a:off x="723900" y="82772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"/>
          <p:cNvSpPr txBox="1"/>
          <p:nvPr/>
        </p:nvSpPr>
        <p:spPr>
          <a:xfrm>
            <a:off x="876300" y="8239125"/>
            <a:ext cx="141463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202124"/>
                </a:solidFill>
                <a:latin typeface="Inter"/>
                <a:ea typeface="Inter"/>
                <a:cs typeface="Inter"/>
              </a:rPr>
              <a:t>已连接 root@prod-web-01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10258425" y="8239125"/>
            <a:ext cx="52387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延迟 12ms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10972800" y="8239125"/>
            <a:ext cx="31432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UTF-8</a:t>
            </a:r>
          </a:p>
        </p:txBody>
      </p:sp>
      <p:sp>
        <p:nvSpPr>
          <p:cNvPr id="111" name="TextBox"/>
          <p:cNvSpPr txBox="1"/>
          <p:nvPr/>
        </p:nvSpPr>
        <p:spPr>
          <a:xfrm>
            <a:off x="11477625" y="8239125"/>
            <a:ext cx="44005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SSH-2.0</a:t>
            </a:r>
          </a:p>
        </p:txBody>
      </p:sp>
      <p:sp>
        <p:nvSpPr>
          <p:cNvPr id="112" name="Rectangle"/>
          <p:cNvSpPr/>
          <p:nvPr/>
        </p:nvSpPr>
        <p:spPr>
          <a:xfrm>
            <a:off x="12115800" y="8162925"/>
            <a:ext cx="790575" cy="295275"/>
          </a:xfrm>
          <a:prstGeom prst="roundRect">
            <a:avLst>
              <a:gd name="adj" fmla="val 19354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Path"/>
          <p:cNvSpPr/>
          <p:nvPr/>
        </p:nvSpPr>
        <p:spPr>
          <a:xfrm>
            <a:off x="12204383" y="8268767"/>
            <a:ext cx="109379" cy="91325"/>
          </a:xfrm>
          <a:custGeom>
            <a:avLst/>
            <a:gdLst/>
            <a:ahLst/>
            <a:cxnLst/>
            <a:rect l="0" t="0" r="r" b="b"/>
            <a:pathLst>
              <a:path w="109379" h="91325">
                <a:moveTo>
                  <a:pt x="4685" y="4689"/>
                </a:moveTo>
                <a:quadBezTo>
                  <a:pt x="9369" y="4"/>
                  <a:pt x="15994" y="4"/>
                </a:quadBezTo>
                <a:lnTo>
                  <a:pt x="37663" y="4"/>
                </a:lnTo>
                <a:quadBezTo>
                  <a:pt x="38793" y="0"/>
                  <a:pt x="39835" y="436"/>
                </a:quadBezTo>
                <a:quadBezTo>
                  <a:pt x="40881" y="865"/>
                  <a:pt x="41676" y="1666"/>
                </a:quadBezTo>
                <a:lnTo>
                  <a:pt x="50333" y="10323"/>
                </a:lnTo>
                <a:lnTo>
                  <a:pt x="93385" y="10323"/>
                </a:lnTo>
                <a:quadBezTo>
                  <a:pt x="100010" y="10323"/>
                  <a:pt x="104694" y="15008"/>
                </a:quadBezTo>
                <a:quadBezTo>
                  <a:pt x="109379" y="19692"/>
                  <a:pt x="109379" y="26317"/>
                </a:quadBezTo>
                <a:lnTo>
                  <a:pt x="109379" y="75331"/>
                </a:lnTo>
                <a:quadBezTo>
                  <a:pt x="109379" y="81956"/>
                  <a:pt x="104694" y="86641"/>
                </a:quadBezTo>
                <a:quadBezTo>
                  <a:pt x="100010" y="91325"/>
                  <a:pt x="93385" y="91325"/>
                </a:quadBezTo>
                <a:lnTo>
                  <a:pt x="15994" y="91325"/>
                </a:lnTo>
                <a:quadBezTo>
                  <a:pt x="9369" y="91325"/>
                  <a:pt x="4685" y="86641"/>
                </a:quadBezTo>
                <a:quadBezTo>
                  <a:pt x="0" y="81956"/>
                  <a:pt x="0" y="75331"/>
                </a:quadBezTo>
                <a:lnTo>
                  <a:pt x="0" y="15998"/>
                </a:lnTo>
                <a:quadBezTo>
                  <a:pt x="0" y="9373"/>
                  <a:pt x="4685" y="4689"/>
                </a:quadBezTo>
                <a:lnTo>
                  <a:pt x="4685" y="4689"/>
                </a:lnTo>
                <a:close/>
                <a:moveTo>
                  <a:pt x="12711" y="12715"/>
                </a:moveTo>
                <a:quadBezTo>
                  <a:pt x="11351" y="14075"/>
                  <a:pt x="11351" y="15998"/>
                </a:quadBezTo>
                <a:lnTo>
                  <a:pt x="11351" y="75331"/>
                </a:lnTo>
                <a:quadBezTo>
                  <a:pt x="11351" y="77254"/>
                  <a:pt x="12711" y="78615"/>
                </a:quadBezTo>
                <a:quadBezTo>
                  <a:pt x="14071" y="79975"/>
                  <a:pt x="15994" y="79975"/>
                </a:quadBezTo>
                <a:lnTo>
                  <a:pt x="93385" y="79975"/>
                </a:lnTo>
                <a:quadBezTo>
                  <a:pt x="95308" y="79975"/>
                  <a:pt x="96668" y="78615"/>
                </a:quadBezTo>
                <a:quadBezTo>
                  <a:pt x="98028" y="77254"/>
                  <a:pt x="98028" y="75331"/>
                </a:quadBezTo>
                <a:lnTo>
                  <a:pt x="98028" y="26317"/>
                </a:lnTo>
                <a:quadBezTo>
                  <a:pt x="98028" y="24394"/>
                  <a:pt x="96668" y="23034"/>
                </a:quadBezTo>
                <a:quadBezTo>
                  <a:pt x="95308" y="21674"/>
                  <a:pt x="93385" y="21674"/>
                </a:quadBezTo>
                <a:lnTo>
                  <a:pt x="47982" y="21674"/>
                </a:lnTo>
                <a:quadBezTo>
                  <a:pt x="46852" y="21678"/>
                  <a:pt x="45810" y="21242"/>
                </a:quadBezTo>
                <a:quadBezTo>
                  <a:pt x="44765" y="20813"/>
                  <a:pt x="43969" y="20011"/>
                </a:quadBezTo>
                <a:lnTo>
                  <a:pt x="35313" y="11355"/>
                </a:lnTo>
                <a:lnTo>
                  <a:pt x="15994" y="11355"/>
                </a:lnTo>
                <a:quadBezTo>
                  <a:pt x="14071" y="11355"/>
                  <a:pt x="12711" y="12715"/>
                </a:quad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"/>
          <p:cNvSpPr txBox="1"/>
          <p:nvPr/>
        </p:nvSpPr>
        <p:spPr>
          <a:xfrm>
            <a:off x="12372975" y="8239125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73E8"/>
                </a:solidFill>
                <a:latin typeface="Inter"/>
                <a:ea typeface="Inter"/>
                <a:cs typeface="Inter"/>
              </a:rPr>
              <a:t>文件传输</a:t>
            </a:r>
          </a:p>
        </p:txBody>
      </p:sp>
      <p:sp>
        <p:nvSpPr>
          <p:cNvPr id="115" name="TextBox"/>
          <p:cNvSpPr txBox="1"/>
          <p:nvPr/>
        </p:nvSpPr>
        <p:spPr>
          <a:xfrm>
            <a:off x="13096875" y="8239125"/>
            <a:ext cx="50292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0A6"/>
                </a:solidFill>
                <a:latin typeface="JetBrains Mono"/>
                <a:ea typeface="JetBrains Mono"/>
                <a:cs typeface="JetBrains Mono"/>
              </a:rPr>
              <a:t>14:32:05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716000" cy="85725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0" y="0"/>
            <a:ext cx="609600" cy="857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"/>
          <p:cNvSpPr/>
          <p:nvPr/>
        </p:nvSpPr>
        <p:spPr>
          <a:xfrm>
            <a:off x="114300" y="152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ath"/>
          <p:cNvSpPr/>
          <p:nvPr/>
        </p:nvSpPr>
        <p:spPr>
          <a:xfrm>
            <a:off x="225593" y="273218"/>
            <a:ext cx="82214" cy="139364"/>
          </a:xfrm>
          <a:custGeom>
            <a:avLst/>
            <a:gdLst/>
            <a:ahLst/>
            <a:cxnLst/>
            <a:rect l="0" t="0" r="r" b="b"/>
            <a:pathLst>
              <a:path w="82214" h="139364">
                <a:moveTo>
                  <a:pt x="78438" y="60926"/>
                </a:moveTo>
                <a:lnTo>
                  <a:pt x="21288" y="3776"/>
                </a:lnTo>
                <a:quadBezTo>
                  <a:pt x="17723" y="0"/>
                  <a:pt x="12532" y="149"/>
                </a:quadBezTo>
                <a:quadBezTo>
                  <a:pt x="7341" y="0"/>
                  <a:pt x="3776" y="3776"/>
                </a:quadBezTo>
                <a:quadBezTo>
                  <a:pt x="0" y="7341"/>
                  <a:pt x="149" y="12532"/>
                </a:quadBezTo>
                <a:quadBezTo>
                  <a:pt x="0" y="17723"/>
                  <a:pt x="3776" y="21288"/>
                </a:quadBezTo>
                <a:lnTo>
                  <a:pt x="52170" y="69682"/>
                </a:lnTo>
                <a:lnTo>
                  <a:pt x="3776" y="118076"/>
                </a:lnTo>
                <a:quadBezTo>
                  <a:pt x="0" y="121641"/>
                  <a:pt x="149" y="126832"/>
                </a:quadBezTo>
                <a:quadBezTo>
                  <a:pt x="0" y="132023"/>
                  <a:pt x="3776" y="135588"/>
                </a:quadBezTo>
                <a:quadBezTo>
                  <a:pt x="7341" y="139364"/>
                  <a:pt x="12532" y="139214"/>
                </a:quadBezTo>
                <a:quadBezTo>
                  <a:pt x="17723" y="139364"/>
                  <a:pt x="21288" y="135588"/>
                </a:quadBezTo>
                <a:lnTo>
                  <a:pt x="78438" y="78438"/>
                </a:lnTo>
                <a:quadBezTo>
                  <a:pt x="82214" y="74873"/>
                  <a:pt x="82064" y="69682"/>
                </a:quadBezTo>
                <a:quadBezTo>
                  <a:pt x="82214" y="64491"/>
                  <a:pt x="78438" y="60926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306556" y="387518"/>
            <a:ext cx="86976" cy="25064"/>
          </a:xfrm>
          <a:custGeom>
            <a:avLst/>
            <a:gdLst/>
            <a:ahLst/>
            <a:cxnLst/>
            <a:rect l="0" t="0" r="r" b="b"/>
            <a:pathLst>
              <a:path w="86976" h="25064">
                <a:moveTo>
                  <a:pt x="74444" y="149"/>
                </a:moveTo>
                <a:lnTo>
                  <a:pt x="12532" y="149"/>
                </a:lnTo>
                <a:quadBezTo>
                  <a:pt x="7341" y="0"/>
                  <a:pt x="3776" y="3776"/>
                </a:quadBezTo>
                <a:quadBezTo>
                  <a:pt x="0" y="7341"/>
                  <a:pt x="149" y="12532"/>
                </a:quadBezTo>
                <a:quadBezTo>
                  <a:pt x="0" y="17723"/>
                  <a:pt x="3776" y="21288"/>
                </a:quadBezTo>
                <a:quadBezTo>
                  <a:pt x="7341" y="25064"/>
                  <a:pt x="12532" y="24914"/>
                </a:quadBezTo>
                <a:lnTo>
                  <a:pt x="74444" y="24914"/>
                </a:lnTo>
                <a:quadBezTo>
                  <a:pt x="79635" y="25064"/>
                  <a:pt x="83200" y="21288"/>
                </a:quadBezTo>
                <a:quadBezTo>
                  <a:pt x="86976" y="17723"/>
                  <a:pt x="86827" y="12532"/>
                </a:quadBezTo>
                <a:quadBezTo>
                  <a:pt x="86976" y="7341"/>
                  <a:pt x="83200" y="3776"/>
                </a:quadBezTo>
                <a:quadBezTo>
                  <a:pt x="79635" y="0"/>
                  <a:pt x="74444" y="149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14300" y="7620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237331" y="889000"/>
            <a:ext cx="134937" cy="55562"/>
          </a:xfrm>
          <a:prstGeom prst="roundRect">
            <a:avLst>
              <a:gd name="adj" fmla="val 28571"/>
            </a:avLst>
          </a:prstGeom>
          <a:noFill/>
          <a:ln w="15875">
            <a:solidFill>
              <a:srgbClr val="1A73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37331" y="960438"/>
            <a:ext cx="134937" cy="55562"/>
          </a:xfrm>
          <a:prstGeom prst="roundRect">
            <a:avLst>
              <a:gd name="adj" fmla="val 28571"/>
            </a:avLst>
          </a:prstGeom>
          <a:noFill/>
          <a:ln w="15875">
            <a:solidFill>
              <a:srgbClr val="1A73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258762" y="906462"/>
            <a:ext cx="20637" cy="20637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Ellipse"/>
          <p:cNvSpPr/>
          <p:nvPr/>
        </p:nvSpPr>
        <p:spPr>
          <a:xfrm>
            <a:off x="258762" y="977900"/>
            <a:ext cx="20637" cy="20637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"/>
          <p:cNvSpPr/>
          <p:nvPr/>
        </p:nvSpPr>
        <p:spPr>
          <a:xfrm>
            <a:off x="114300" y="12382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ath"/>
          <p:cNvSpPr/>
          <p:nvPr/>
        </p:nvSpPr>
        <p:spPr>
          <a:xfrm>
            <a:off x="229394" y="1365244"/>
            <a:ext cx="166687" cy="138912"/>
          </a:xfrm>
          <a:custGeom>
            <a:avLst/>
            <a:gdLst/>
            <a:ahLst/>
            <a:cxnLst/>
            <a:rect l="0" t="0" r="r" b="b"/>
            <a:pathLst>
              <a:path w="166687" h="138912">
                <a:moveTo>
                  <a:pt x="6975" y="6980"/>
                </a:moveTo>
                <a:quadBezTo>
                  <a:pt x="13949" y="6"/>
                  <a:pt x="23812" y="6"/>
                </a:quadBezTo>
                <a:lnTo>
                  <a:pt x="57150" y="6"/>
                </a:lnTo>
                <a:quadBezTo>
                  <a:pt x="58730" y="0"/>
                  <a:pt x="60188" y="610"/>
                </a:quadBezTo>
                <a:quadBezTo>
                  <a:pt x="61650" y="1209"/>
                  <a:pt x="62763" y="2331"/>
                </a:quadBezTo>
                <a:lnTo>
                  <a:pt x="76313" y="15881"/>
                </a:lnTo>
                <a:lnTo>
                  <a:pt x="142875" y="15881"/>
                </a:lnTo>
                <a:quadBezTo>
                  <a:pt x="152738" y="15881"/>
                  <a:pt x="159713" y="22855"/>
                </a:quadBezTo>
                <a:quadBezTo>
                  <a:pt x="166687" y="29830"/>
                  <a:pt x="166687" y="39693"/>
                </a:quadBezTo>
                <a:lnTo>
                  <a:pt x="166687" y="115100"/>
                </a:lnTo>
                <a:quadBezTo>
                  <a:pt x="166687" y="124963"/>
                  <a:pt x="159713" y="131938"/>
                </a:quadBezTo>
                <a:quadBezTo>
                  <a:pt x="152738" y="138912"/>
                  <a:pt x="142875" y="138912"/>
                </a:quadBezTo>
                <a:lnTo>
                  <a:pt x="23812" y="138912"/>
                </a:lnTo>
                <a:quadBezTo>
                  <a:pt x="13949" y="138912"/>
                  <a:pt x="6975" y="131938"/>
                </a:quadBezTo>
                <a:quadBezTo>
                  <a:pt x="0" y="124963"/>
                  <a:pt x="0" y="115100"/>
                </a:quadBezTo>
                <a:lnTo>
                  <a:pt x="0" y="23818"/>
                </a:lnTo>
                <a:quadBezTo>
                  <a:pt x="0" y="13955"/>
                  <a:pt x="6975" y="6980"/>
                </a:quadBezTo>
                <a:lnTo>
                  <a:pt x="6975" y="6980"/>
                </a:lnTo>
                <a:close/>
                <a:moveTo>
                  <a:pt x="18200" y="18206"/>
                </a:moveTo>
                <a:quadBezTo>
                  <a:pt x="15875" y="20531"/>
                  <a:pt x="15875" y="23818"/>
                </a:quadBezTo>
                <a:lnTo>
                  <a:pt x="15875" y="115100"/>
                </a:lnTo>
                <a:quadBezTo>
                  <a:pt x="15875" y="118387"/>
                  <a:pt x="18200" y="120712"/>
                </a:quadBezTo>
                <a:quadBezTo>
                  <a:pt x="20525" y="123037"/>
                  <a:pt x="23812" y="123037"/>
                </a:quadBezTo>
                <a:lnTo>
                  <a:pt x="142875" y="123037"/>
                </a:lnTo>
                <a:quadBezTo>
                  <a:pt x="146163" y="123037"/>
                  <a:pt x="148488" y="120712"/>
                </a:quadBezTo>
                <a:quadBezTo>
                  <a:pt x="150812" y="118387"/>
                  <a:pt x="150812" y="115100"/>
                </a:quadBezTo>
                <a:lnTo>
                  <a:pt x="150812" y="39693"/>
                </a:lnTo>
                <a:quadBezTo>
                  <a:pt x="150812" y="36406"/>
                  <a:pt x="148488" y="34081"/>
                </a:quadBezTo>
                <a:quadBezTo>
                  <a:pt x="146163" y="31756"/>
                  <a:pt x="142875" y="31756"/>
                </a:quadBezTo>
                <a:lnTo>
                  <a:pt x="73025" y="31756"/>
                </a:lnTo>
                <a:quadBezTo>
                  <a:pt x="71445" y="31762"/>
                  <a:pt x="69987" y="31152"/>
                </a:quadBezTo>
                <a:quadBezTo>
                  <a:pt x="68525" y="30553"/>
                  <a:pt x="67412" y="29431"/>
                </a:quadBezTo>
                <a:lnTo>
                  <a:pt x="53862" y="15881"/>
                </a:lnTo>
                <a:lnTo>
                  <a:pt x="23812" y="15881"/>
                </a:lnTo>
                <a:quadBezTo>
                  <a:pt x="20525" y="15881"/>
                  <a:pt x="18200" y="18206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ath"/>
          <p:cNvSpPr/>
          <p:nvPr/>
        </p:nvSpPr>
        <p:spPr>
          <a:xfrm>
            <a:off x="233267" y="8181879"/>
            <a:ext cx="143067" cy="95442"/>
          </a:xfrm>
          <a:custGeom>
            <a:avLst/>
            <a:gdLst/>
            <a:ahLst/>
            <a:cxnLst/>
            <a:rect l="0" t="0" r="r" b="b"/>
            <a:pathLst>
              <a:path w="143067" h="95442">
                <a:moveTo>
                  <a:pt x="135033" y="96"/>
                </a:moveTo>
                <a:lnTo>
                  <a:pt x="8033" y="96"/>
                </a:lnTo>
                <a:quadBezTo>
                  <a:pt x="4706" y="0"/>
                  <a:pt x="2421" y="2421"/>
                </a:quadBezTo>
                <a:quadBezTo>
                  <a:pt x="0" y="4706"/>
                  <a:pt x="96" y="8033"/>
                </a:quadBezTo>
                <a:quadBezTo>
                  <a:pt x="0" y="11361"/>
                  <a:pt x="2421" y="13646"/>
                </a:quadBezTo>
                <a:quadBezTo>
                  <a:pt x="4706" y="16067"/>
                  <a:pt x="8033" y="15971"/>
                </a:quadBezTo>
                <a:lnTo>
                  <a:pt x="135033" y="15971"/>
                </a:lnTo>
                <a:quadBezTo>
                  <a:pt x="138361" y="16067"/>
                  <a:pt x="140646" y="13646"/>
                </a:quadBezTo>
                <a:quadBezTo>
                  <a:pt x="143067" y="11361"/>
                  <a:pt x="142971" y="8033"/>
                </a:quadBezTo>
                <a:quadBezTo>
                  <a:pt x="143067" y="4706"/>
                  <a:pt x="140646" y="2421"/>
                </a:quadBezTo>
                <a:quadBezTo>
                  <a:pt x="138361" y="0"/>
                  <a:pt x="135033" y="96"/>
                </a:quadBezTo>
                <a:close/>
                <a:moveTo>
                  <a:pt x="135033" y="39783"/>
                </a:moveTo>
                <a:lnTo>
                  <a:pt x="8033" y="39783"/>
                </a:lnTo>
                <a:quadBezTo>
                  <a:pt x="4706" y="39688"/>
                  <a:pt x="2421" y="42108"/>
                </a:quadBezTo>
                <a:quadBezTo>
                  <a:pt x="0" y="44393"/>
                  <a:pt x="96" y="47721"/>
                </a:quadBezTo>
                <a:quadBezTo>
                  <a:pt x="0" y="51048"/>
                  <a:pt x="2421" y="53333"/>
                </a:quadBezTo>
                <a:quadBezTo>
                  <a:pt x="4706" y="55754"/>
                  <a:pt x="8033" y="55658"/>
                </a:quadBezTo>
                <a:lnTo>
                  <a:pt x="135033" y="55658"/>
                </a:lnTo>
                <a:quadBezTo>
                  <a:pt x="138361" y="55754"/>
                  <a:pt x="140646" y="53333"/>
                </a:quadBezTo>
                <a:quadBezTo>
                  <a:pt x="143067" y="51048"/>
                  <a:pt x="142971" y="47721"/>
                </a:quadBezTo>
                <a:quadBezTo>
                  <a:pt x="143067" y="44393"/>
                  <a:pt x="140646" y="42108"/>
                </a:quadBezTo>
                <a:quadBezTo>
                  <a:pt x="138361" y="39688"/>
                  <a:pt x="135033" y="39783"/>
                </a:quadBezTo>
                <a:close/>
                <a:moveTo>
                  <a:pt x="135033" y="79471"/>
                </a:moveTo>
                <a:lnTo>
                  <a:pt x="8033" y="79471"/>
                </a:lnTo>
                <a:quadBezTo>
                  <a:pt x="4706" y="79375"/>
                  <a:pt x="2421" y="81796"/>
                </a:quadBezTo>
                <a:quadBezTo>
                  <a:pt x="0" y="84081"/>
                  <a:pt x="96" y="87408"/>
                </a:quadBezTo>
                <a:quadBezTo>
                  <a:pt x="0" y="90736"/>
                  <a:pt x="2421" y="93021"/>
                </a:quadBezTo>
                <a:quadBezTo>
                  <a:pt x="4706" y="95442"/>
                  <a:pt x="8033" y="95346"/>
                </a:quadBezTo>
                <a:lnTo>
                  <a:pt x="135033" y="95346"/>
                </a:lnTo>
                <a:quadBezTo>
                  <a:pt x="138361" y="95442"/>
                  <a:pt x="140646" y="93021"/>
                </a:quadBezTo>
                <a:quadBezTo>
                  <a:pt x="143067" y="90736"/>
                  <a:pt x="142971" y="87408"/>
                </a:quadBezTo>
                <a:quadBezTo>
                  <a:pt x="143067" y="84081"/>
                  <a:pt x="140646" y="81796"/>
                </a:quadBezTo>
                <a:quadBezTo>
                  <a:pt x="138361" y="79375"/>
                  <a:pt x="135033" y="79471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Ellipse"/>
          <p:cNvSpPr/>
          <p:nvPr/>
        </p:nvSpPr>
        <p:spPr>
          <a:xfrm>
            <a:off x="267494" y="8172450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Ellipse"/>
          <p:cNvSpPr/>
          <p:nvPr/>
        </p:nvSpPr>
        <p:spPr>
          <a:xfrm>
            <a:off x="267494" y="8172450"/>
            <a:ext cx="34925" cy="34925"/>
          </a:xfrm>
          <a:prstGeom prst="ellipse">
            <a:avLst/>
          </a:prstGeom>
          <a:noFill/>
          <a:ln w="15875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Ellipse"/>
          <p:cNvSpPr/>
          <p:nvPr/>
        </p:nvSpPr>
        <p:spPr>
          <a:xfrm>
            <a:off x="311150" y="8212138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Ellipse"/>
          <p:cNvSpPr/>
          <p:nvPr/>
        </p:nvSpPr>
        <p:spPr>
          <a:xfrm>
            <a:off x="311150" y="8212138"/>
            <a:ext cx="34925" cy="34925"/>
          </a:xfrm>
          <a:prstGeom prst="ellipse">
            <a:avLst/>
          </a:prstGeom>
          <a:noFill/>
          <a:ln w="15875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Ellipse"/>
          <p:cNvSpPr/>
          <p:nvPr/>
        </p:nvSpPr>
        <p:spPr>
          <a:xfrm>
            <a:off x="255588" y="8251825"/>
            <a:ext cx="34925" cy="34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Ellipse"/>
          <p:cNvSpPr/>
          <p:nvPr/>
        </p:nvSpPr>
        <p:spPr>
          <a:xfrm>
            <a:off x="255588" y="8251825"/>
            <a:ext cx="34925" cy="34925"/>
          </a:xfrm>
          <a:prstGeom prst="ellipse">
            <a:avLst/>
          </a:prstGeom>
          <a:noFill/>
          <a:ln w="15875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609600" y="0"/>
            <a:ext cx="1310640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742950" y="238125"/>
            <a:ext cx="200596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75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prod-web-01 : /var/www/html</a:t>
            </a:r>
          </a:p>
        </p:txBody>
      </p:sp>
      <p:sp>
        <p:nvSpPr>
          <p:cNvPr id="23" name="Path"/>
          <p:cNvSpPr/>
          <p:nvPr/>
        </p:nvSpPr>
        <p:spPr>
          <a:xfrm>
            <a:off x="11710125" y="254955"/>
            <a:ext cx="128037" cy="130193"/>
          </a:xfrm>
          <a:custGeom>
            <a:avLst/>
            <a:gdLst/>
            <a:ahLst/>
            <a:cxnLst/>
            <a:rect l="0" t="0" r="r" b="b"/>
            <a:pathLst>
              <a:path w="128037" h="130193">
                <a:moveTo>
                  <a:pt x="104221" y="112027"/>
                </a:moveTo>
                <a:quadBezTo>
                  <a:pt x="127930" y="93860"/>
                  <a:pt x="127954" y="63990"/>
                </a:quadBezTo>
                <a:quadBezTo>
                  <a:pt x="128037" y="61162"/>
                  <a:pt x="125981" y="59218"/>
                </a:quadBezTo>
                <a:quadBezTo>
                  <a:pt x="124040" y="57159"/>
                  <a:pt x="121212" y="57238"/>
                </a:quadBezTo>
                <a:quadBezTo>
                  <a:pt x="118384" y="57154"/>
                  <a:pt x="116440" y="59210"/>
                </a:quadBezTo>
                <a:quadBezTo>
                  <a:pt x="114381" y="61151"/>
                  <a:pt x="114460" y="63979"/>
                </a:quadBezTo>
                <a:quadBezTo>
                  <a:pt x="114442" y="87196"/>
                  <a:pt x="96014" y="101315"/>
                </a:quadBezTo>
                <a:quadBezTo>
                  <a:pt x="77587" y="115435"/>
                  <a:pt x="55169" y="109410"/>
                </a:quadBezTo>
                <a:quadBezTo>
                  <a:pt x="32751" y="103385"/>
                  <a:pt x="23881" y="81930"/>
                </a:quadBezTo>
                <a:quadBezTo>
                  <a:pt x="15012" y="60475"/>
                  <a:pt x="26632" y="40376"/>
                </a:quadBezTo>
                <a:quadBezTo>
                  <a:pt x="38252" y="20277"/>
                  <a:pt x="61268" y="17261"/>
                </a:quadBezTo>
                <a:quadBezTo>
                  <a:pt x="84285" y="14244"/>
                  <a:pt x="100690" y="30669"/>
                </a:quadBezTo>
                <a:quadBezTo>
                  <a:pt x="102631" y="32728"/>
                  <a:pt x="105460" y="32648"/>
                </a:quadBezTo>
                <a:quadBezTo>
                  <a:pt x="108288" y="32732"/>
                  <a:pt x="110232" y="30675"/>
                </a:quadBezTo>
                <a:quadBezTo>
                  <a:pt x="112290" y="28734"/>
                  <a:pt x="112211" y="25906"/>
                </a:quadBezTo>
                <a:quadBezTo>
                  <a:pt x="112294" y="23077"/>
                  <a:pt x="110238" y="21134"/>
                </a:quadBezTo>
                <a:quadBezTo>
                  <a:pt x="89130" y="0"/>
                  <a:pt x="59515" y="3881"/>
                </a:quadBezTo>
                <a:quadBezTo>
                  <a:pt x="29900" y="7763"/>
                  <a:pt x="14950" y="33622"/>
                </a:quadBezTo>
                <a:quadBezTo>
                  <a:pt x="0" y="59481"/>
                  <a:pt x="11411" y="87085"/>
                </a:quadBezTo>
                <a:quadBezTo>
                  <a:pt x="22822" y="114690"/>
                  <a:pt x="51667" y="122441"/>
                </a:quadBezTo>
                <a:quadBezTo>
                  <a:pt x="80512" y="130193"/>
                  <a:pt x="104221" y="112027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Path"/>
          <p:cNvSpPr/>
          <p:nvPr/>
        </p:nvSpPr>
        <p:spPr>
          <a:xfrm>
            <a:off x="11794448" y="251537"/>
            <a:ext cx="44018" cy="44018"/>
          </a:xfrm>
          <a:custGeom>
            <a:avLst/>
            <a:gdLst/>
            <a:ahLst/>
            <a:cxnLst/>
            <a:rect l="0" t="0" r="r" b="b"/>
            <a:pathLst>
              <a:path w="44018" h="44018">
                <a:moveTo>
                  <a:pt x="43936" y="37189"/>
                </a:moveTo>
                <a:lnTo>
                  <a:pt x="43936" y="6828"/>
                </a:lnTo>
                <a:quadBezTo>
                  <a:pt x="44018" y="4000"/>
                  <a:pt x="41960" y="2058"/>
                </a:quadBezTo>
                <a:quadBezTo>
                  <a:pt x="40018" y="0"/>
                  <a:pt x="37189" y="81"/>
                </a:quadBezTo>
                <a:quadBezTo>
                  <a:pt x="34361" y="0"/>
                  <a:pt x="32418" y="2058"/>
                </a:quadBezTo>
                <a:quadBezTo>
                  <a:pt x="30361" y="4000"/>
                  <a:pt x="30442" y="6828"/>
                </a:quadBezTo>
                <a:lnTo>
                  <a:pt x="30442" y="30442"/>
                </a:lnTo>
                <a:lnTo>
                  <a:pt x="6828" y="30442"/>
                </a:lnTo>
                <a:quadBezTo>
                  <a:pt x="4000" y="30361"/>
                  <a:pt x="2058" y="32418"/>
                </a:quadBezTo>
                <a:quadBezTo>
                  <a:pt x="0" y="34361"/>
                  <a:pt x="81" y="37189"/>
                </a:quadBezTo>
                <a:quadBezTo>
                  <a:pt x="0" y="40018"/>
                  <a:pt x="2058" y="41960"/>
                </a:quadBezTo>
                <a:quadBezTo>
                  <a:pt x="4000" y="44018"/>
                  <a:pt x="6828" y="43936"/>
                </a:quadBezTo>
                <a:lnTo>
                  <a:pt x="37189" y="43936"/>
                </a:lnTo>
                <a:quadBezTo>
                  <a:pt x="40018" y="44018"/>
                  <a:pt x="41960" y="41960"/>
                </a:quadBezTo>
                <a:quadBezTo>
                  <a:pt x="44018" y="40018"/>
                  <a:pt x="43936" y="37189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Path"/>
          <p:cNvSpPr/>
          <p:nvPr/>
        </p:nvSpPr>
        <p:spPr>
          <a:xfrm>
            <a:off x="12151716" y="265107"/>
            <a:ext cx="141684" cy="118075"/>
          </a:xfrm>
          <a:custGeom>
            <a:avLst/>
            <a:gdLst/>
            <a:ahLst/>
            <a:cxnLst/>
            <a:rect l="0" t="0" r="r" b="b"/>
            <a:pathLst>
              <a:path w="141684" h="118075">
                <a:moveTo>
                  <a:pt x="5928" y="5933"/>
                </a:moveTo>
                <a:quadBezTo>
                  <a:pt x="11857" y="5"/>
                  <a:pt x="20241" y="5"/>
                </a:quadBezTo>
                <a:lnTo>
                  <a:pt x="48577" y="5"/>
                </a:lnTo>
                <a:quadBezTo>
                  <a:pt x="49921" y="0"/>
                  <a:pt x="51159" y="519"/>
                </a:quadBezTo>
                <a:quadBezTo>
                  <a:pt x="52402" y="1028"/>
                  <a:pt x="53348" y="1981"/>
                </a:quadBezTo>
                <a:lnTo>
                  <a:pt x="64866" y="13499"/>
                </a:lnTo>
                <a:lnTo>
                  <a:pt x="121444" y="13499"/>
                </a:lnTo>
                <a:quadBezTo>
                  <a:pt x="129828" y="13499"/>
                  <a:pt x="135756" y="19427"/>
                </a:quadBezTo>
                <a:quadBezTo>
                  <a:pt x="141684" y="25355"/>
                  <a:pt x="141684" y="33739"/>
                </a:quadBezTo>
                <a:lnTo>
                  <a:pt x="141684" y="97835"/>
                </a:lnTo>
                <a:quadBezTo>
                  <a:pt x="141684" y="106219"/>
                  <a:pt x="135756" y="112147"/>
                </a:quadBezTo>
                <a:quadBezTo>
                  <a:pt x="129828" y="118075"/>
                  <a:pt x="121444" y="118075"/>
                </a:quadBezTo>
                <a:lnTo>
                  <a:pt x="20241" y="118075"/>
                </a:lnTo>
                <a:quadBezTo>
                  <a:pt x="11857" y="118075"/>
                  <a:pt x="5928" y="112147"/>
                </a:quadBezTo>
                <a:quadBezTo>
                  <a:pt x="0" y="106219"/>
                  <a:pt x="0" y="97835"/>
                </a:quadBezTo>
                <a:lnTo>
                  <a:pt x="0" y="20246"/>
                </a:lnTo>
                <a:quadBezTo>
                  <a:pt x="0" y="11862"/>
                  <a:pt x="5928" y="5933"/>
                </a:quadBezTo>
                <a:lnTo>
                  <a:pt x="5928" y="5933"/>
                </a:lnTo>
                <a:close/>
                <a:moveTo>
                  <a:pt x="15470" y="15475"/>
                </a:moveTo>
                <a:quadBezTo>
                  <a:pt x="13494" y="17451"/>
                  <a:pt x="13494" y="20246"/>
                </a:quadBezTo>
                <a:lnTo>
                  <a:pt x="13494" y="97835"/>
                </a:lnTo>
                <a:quadBezTo>
                  <a:pt x="13494" y="100629"/>
                  <a:pt x="15470" y="102605"/>
                </a:quadBezTo>
                <a:quadBezTo>
                  <a:pt x="17446" y="104582"/>
                  <a:pt x="20241" y="104582"/>
                </a:quadBezTo>
                <a:lnTo>
                  <a:pt x="121444" y="104582"/>
                </a:lnTo>
                <a:quadBezTo>
                  <a:pt x="124238" y="104582"/>
                  <a:pt x="126215" y="102605"/>
                </a:quadBezTo>
                <a:quadBezTo>
                  <a:pt x="128191" y="100629"/>
                  <a:pt x="128191" y="97835"/>
                </a:quadBezTo>
                <a:lnTo>
                  <a:pt x="128191" y="33739"/>
                </a:lnTo>
                <a:quadBezTo>
                  <a:pt x="128191" y="30945"/>
                  <a:pt x="126214" y="28969"/>
                </a:quadBezTo>
                <a:quadBezTo>
                  <a:pt x="124238" y="26993"/>
                  <a:pt x="121444" y="26993"/>
                </a:quadBezTo>
                <a:lnTo>
                  <a:pt x="62071" y="26993"/>
                </a:lnTo>
                <a:quadBezTo>
                  <a:pt x="60728" y="26998"/>
                  <a:pt x="59489" y="26479"/>
                </a:quadBezTo>
                <a:quadBezTo>
                  <a:pt x="58247" y="25970"/>
                  <a:pt x="57300" y="25016"/>
                </a:quadBezTo>
                <a:lnTo>
                  <a:pt x="45783" y="13499"/>
                </a:lnTo>
                <a:lnTo>
                  <a:pt x="20241" y="13499"/>
                </a:lnTo>
                <a:quadBezTo>
                  <a:pt x="17446" y="13499"/>
                  <a:pt x="15470" y="15475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Path"/>
          <p:cNvSpPr/>
          <p:nvPr/>
        </p:nvSpPr>
        <p:spPr>
          <a:xfrm>
            <a:off x="12192800" y="302822"/>
            <a:ext cx="46025" cy="46025"/>
          </a:xfrm>
          <a:custGeom>
            <a:avLst/>
            <a:gdLst/>
            <a:ahLst/>
            <a:cxnLst/>
            <a:rect l="0" t="0" r="r" b="b"/>
            <a:pathLst>
              <a:path w="46025" h="46025">
                <a:moveTo>
                  <a:pt x="29085" y="16940"/>
                </a:moveTo>
                <a:lnTo>
                  <a:pt x="29085" y="6145"/>
                </a:lnTo>
                <a:quadBezTo>
                  <a:pt x="29158" y="3600"/>
                  <a:pt x="27306" y="1852"/>
                </a:quadBezTo>
                <a:quadBezTo>
                  <a:pt x="25558" y="0"/>
                  <a:pt x="23013" y="73"/>
                </a:quadBezTo>
                <a:quadBezTo>
                  <a:pt x="20467" y="0"/>
                  <a:pt x="18719" y="1852"/>
                </a:quadBezTo>
                <a:quadBezTo>
                  <a:pt x="16867" y="3600"/>
                  <a:pt x="16940" y="6145"/>
                </a:quadBezTo>
                <a:lnTo>
                  <a:pt x="16940" y="16940"/>
                </a:lnTo>
                <a:lnTo>
                  <a:pt x="6145" y="16940"/>
                </a:lnTo>
                <a:quadBezTo>
                  <a:pt x="3600" y="16867"/>
                  <a:pt x="1852" y="18719"/>
                </a:quadBezTo>
                <a:quadBezTo>
                  <a:pt x="0" y="20467"/>
                  <a:pt x="73" y="23013"/>
                </a:quadBezTo>
                <a:quadBezTo>
                  <a:pt x="0" y="25558"/>
                  <a:pt x="1852" y="27306"/>
                </a:quadBezTo>
                <a:quadBezTo>
                  <a:pt x="3600" y="29158"/>
                  <a:pt x="6145" y="29085"/>
                </a:quadBezTo>
                <a:lnTo>
                  <a:pt x="16940" y="29085"/>
                </a:lnTo>
                <a:lnTo>
                  <a:pt x="16940" y="39880"/>
                </a:lnTo>
                <a:quadBezTo>
                  <a:pt x="16867" y="42425"/>
                  <a:pt x="18719" y="44174"/>
                </a:quadBezTo>
                <a:quadBezTo>
                  <a:pt x="20467" y="46025"/>
                  <a:pt x="23013" y="45952"/>
                </a:quadBezTo>
                <a:quadBezTo>
                  <a:pt x="25558" y="46025"/>
                  <a:pt x="27306" y="44174"/>
                </a:quadBezTo>
                <a:quadBezTo>
                  <a:pt x="29158" y="42425"/>
                  <a:pt x="29085" y="39880"/>
                </a:quadBezTo>
                <a:lnTo>
                  <a:pt x="29085" y="29085"/>
                </a:lnTo>
                <a:lnTo>
                  <a:pt x="39880" y="29085"/>
                </a:lnTo>
                <a:quadBezTo>
                  <a:pt x="42425" y="29158"/>
                  <a:pt x="44174" y="27306"/>
                </a:quadBezTo>
                <a:quadBezTo>
                  <a:pt x="46025" y="25558"/>
                  <a:pt x="45952" y="23013"/>
                </a:quadBezTo>
                <a:quadBezTo>
                  <a:pt x="46025" y="20467"/>
                  <a:pt x="44174" y="18719"/>
                </a:quadBezTo>
                <a:quadBezTo>
                  <a:pt x="42425" y="16867"/>
                  <a:pt x="39880" y="16940"/>
                </a:quadBezTo>
                <a:lnTo>
                  <a:pt x="29085" y="16940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Path"/>
          <p:cNvSpPr/>
          <p:nvPr/>
        </p:nvSpPr>
        <p:spPr>
          <a:xfrm>
            <a:off x="12606653" y="292019"/>
            <a:ext cx="94619" cy="54138"/>
          </a:xfrm>
          <a:custGeom>
            <a:avLst/>
            <a:gdLst/>
            <a:ahLst/>
            <a:cxnLst/>
            <a:rect l="0" t="0" r="r" b="b"/>
            <a:pathLst>
              <a:path w="94619" h="54138">
                <a:moveTo>
                  <a:pt x="47310" y="37768"/>
                </a:moveTo>
                <a:lnTo>
                  <a:pt x="11599" y="2058"/>
                </a:lnTo>
                <a:quadBezTo>
                  <a:pt x="9657" y="0"/>
                  <a:pt x="6828" y="81"/>
                </a:quadBezTo>
                <a:quadBezTo>
                  <a:pt x="4000" y="0"/>
                  <a:pt x="2058" y="2058"/>
                </a:quadBezTo>
                <a:quadBezTo>
                  <a:pt x="0" y="4000"/>
                  <a:pt x="81" y="6828"/>
                </a:quadBezTo>
                <a:quadBezTo>
                  <a:pt x="0" y="9657"/>
                  <a:pt x="2058" y="11599"/>
                </a:quadBezTo>
                <a:lnTo>
                  <a:pt x="42539" y="52080"/>
                </a:lnTo>
                <a:quadBezTo>
                  <a:pt x="44481" y="54138"/>
                  <a:pt x="47310" y="54056"/>
                </a:quadBezTo>
                <a:quadBezTo>
                  <a:pt x="50138" y="54138"/>
                  <a:pt x="52080" y="52080"/>
                </a:quadBezTo>
                <a:lnTo>
                  <a:pt x="92562" y="11599"/>
                </a:lnTo>
                <a:quadBezTo>
                  <a:pt x="94619" y="9657"/>
                  <a:pt x="94538" y="6828"/>
                </a:quadBezTo>
                <a:quadBezTo>
                  <a:pt x="94619" y="4000"/>
                  <a:pt x="92562" y="2058"/>
                </a:quadBezTo>
                <a:quadBezTo>
                  <a:pt x="90619" y="0"/>
                  <a:pt x="87791" y="81"/>
                </a:quadBezTo>
                <a:quadBezTo>
                  <a:pt x="84962" y="0"/>
                  <a:pt x="83020" y="2058"/>
                </a:quadBezTo>
                <a:lnTo>
                  <a:pt x="47310" y="37768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Path"/>
          <p:cNvSpPr/>
          <p:nvPr/>
        </p:nvSpPr>
        <p:spPr>
          <a:xfrm>
            <a:off x="12593159" y="366234"/>
            <a:ext cx="121607" cy="13657"/>
          </a:xfrm>
          <a:custGeom>
            <a:avLst/>
            <a:gdLst/>
            <a:ahLst/>
            <a:cxnLst/>
            <a:rect l="0" t="0" r="r" b="b"/>
            <a:pathLst>
              <a:path w="121607" h="13657">
                <a:moveTo>
                  <a:pt x="114778" y="81"/>
                </a:moveTo>
                <a:lnTo>
                  <a:pt x="6828" y="81"/>
                </a:lnTo>
                <a:quadBezTo>
                  <a:pt x="4000" y="0"/>
                  <a:pt x="2058" y="2058"/>
                </a:quadBezTo>
                <a:quadBezTo>
                  <a:pt x="0" y="4000"/>
                  <a:pt x="81" y="6828"/>
                </a:quadBezTo>
                <a:quadBezTo>
                  <a:pt x="0" y="9657"/>
                  <a:pt x="2058" y="11599"/>
                </a:quadBezTo>
                <a:quadBezTo>
                  <a:pt x="4000" y="13657"/>
                  <a:pt x="6828" y="13575"/>
                </a:quadBezTo>
                <a:lnTo>
                  <a:pt x="114778" y="13575"/>
                </a:lnTo>
                <a:quadBezTo>
                  <a:pt x="117607" y="13657"/>
                  <a:pt x="119549" y="11599"/>
                </a:quadBezTo>
                <a:quadBezTo>
                  <a:pt x="121607" y="9657"/>
                  <a:pt x="121525" y="6828"/>
                </a:quadBezTo>
                <a:quadBezTo>
                  <a:pt x="121607" y="4000"/>
                  <a:pt x="119549" y="2058"/>
                </a:quadBezTo>
                <a:quadBezTo>
                  <a:pt x="117607" y="0"/>
                  <a:pt x="114778" y="81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12925425" y="133350"/>
            <a:ext cx="657225" cy="361950"/>
          </a:xfrm>
          <a:prstGeom prst="roundRect">
            <a:avLst>
              <a:gd name="adj" fmla="val 21052"/>
            </a:avLst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Path"/>
          <p:cNvSpPr/>
          <p:nvPr/>
        </p:nvSpPr>
        <p:spPr>
          <a:xfrm>
            <a:off x="13060130" y="274802"/>
            <a:ext cx="73490" cy="84602"/>
          </a:xfrm>
          <a:custGeom>
            <a:avLst/>
            <a:gdLst/>
            <a:ahLst/>
            <a:cxnLst/>
            <a:rect l="0" t="0" r="r" b="b"/>
            <a:pathLst>
              <a:path w="73490" h="84602">
                <a:moveTo>
                  <a:pt x="1864" y="32423"/>
                </a:moveTo>
                <a:lnTo>
                  <a:pt x="32423" y="1864"/>
                </a:lnTo>
                <a:quadBezTo>
                  <a:pt x="34183" y="0"/>
                  <a:pt x="36745" y="74"/>
                </a:quadBezTo>
                <a:quadBezTo>
                  <a:pt x="39307" y="0"/>
                  <a:pt x="41067" y="1864"/>
                </a:quadBezTo>
                <a:lnTo>
                  <a:pt x="71626" y="32423"/>
                </a:lnTo>
                <a:quadBezTo>
                  <a:pt x="73490" y="34183"/>
                  <a:pt x="73416" y="36745"/>
                </a:quadBezTo>
                <a:quadBezTo>
                  <a:pt x="73490" y="39307"/>
                  <a:pt x="71626" y="41067"/>
                </a:quadBezTo>
                <a:quadBezTo>
                  <a:pt x="69867" y="42931"/>
                  <a:pt x="67304" y="42857"/>
                </a:quadBezTo>
                <a:quadBezTo>
                  <a:pt x="64742" y="42931"/>
                  <a:pt x="62983" y="41067"/>
                </a:quadBezTo>
                <a:lnTo>
                  <a:pt x="42857" y="20941"/>
                </a:lnTo>
                <a:lnTo>
                  <a:pt x="42857" y="78417"/>
                </a:lnTo>
                <a:quadBezTo>
                  <a:pt x="42931" y="80979"/>
                  <a:pt x="41067" y="82739"/>
                </a:quadBezTo>
                <a:quadBezTo>
                  <a:pt x="39307" y="84602"/>
                  <a:pt x="36745" y="84529"/>
                </a:quadBezTo>
                <a:quadBezTo>
                  <a:pt x="34183" y="84602"/>
                  <a:pt x="32423" y="82739"/>
                </a:quadBezTo>
                <a:quadBezTo>
                  <a:pt x="30559" y="80979"/>
                  <a:pt x="30633" y="78417"/>
                </a:quadBezTo>
                <a:lnTo>
                  <a:pt x="30633" y="20941"/>
                </a:lnTo>
                <a:lnTo>
                  <a:pt x="10507" y="41067"/>
                </a:lnTo>
                <a:quadBezTo>
                  <a:pt x="8748" y="42931"/>
                  <a:pt x="6186" y="42857"/>
                </a:quadBezTo>
                <a:quadBezTo>
                  <a:pt x="3623" y="42931"/>
                  <a:pt x="1864" y="41067"/>
                </a:quadBezTo>
                <a:quadBezTo>
                  <a:pt x="0" y="39307"/>
                  <a:pt x="74" y="36745"/>
                </a:quadBezTo>
                <a:quadBezTo>
                  <a:pt x="0" y="34183"/>
                  <a:pt x="1864" y="32423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3230225" y="238125"/>
            <a:ext cx="247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FFFFFF"/>
                </a:solidFill>
                <a:latin typeface="Inter"/>
                <a:ea typeface="Inter"/>
                <a:cs typeface="Inter"/>
              </a:rPr>
              <a:t>上传</a:t>
            </a:r>
          </a:p>
        </p:txBody>
      </p:sp>
      <p:sp>
        <p:nvSpPr>
          <p:cNvPr id="32" name="Rectangle"/>
          <p:cNvSpPr/>
          <p:nvPr/>
        </p:nvSpPr>
        <p:spPr>
          <a:xfrm>
            <a:off x="762000" y="781050"/>
            <a:ext cx="6096000" cy="5819775"/>
          </a:xfrm>
          <a:prstGeom prst="roundRect">
            <a:avLst>
              <a:gd name="adj" fmla="val 196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"/>
          <p:cNvSpPr txBox="1"/>
          <p:nvPr/>
        </p:nvSpPr>
        <p:spPr>
          <a:xfrm>
            <a:off x="895350" y="914400"/>
            <a:ext cx="247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202124"/>
                </a:solidFill>
                <a:latin typeface="Inter Bold"/>
                <a:ea typeface="Inter Bold"/>
                <a:cs typeface="Inter Bold"/>
              </a:rPr>
              <a:t>本地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5400675" y="923925"/>
            <a:ext cx="132016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C:\Users\me\Downloads</a:t>
            </a:r>
          </a:p>
        </p:txBody>
      </p:sp>
      <p:sp>
        <p:nvSpPr>
          <p:cNvPr id="35" name="Rectangle"/>
          <p:cNvSpPr/>
          <p:nvPr/>
        </p:nvSpPr>
        <p:spPr>
          <a:xfrm>
            <a:off x="762000" y="1200150"/>
            <a:ext cx="6096000" cy="9525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"/>
          <p:cNvSpPr/>
          <p:nvPr/>
        </p:nvSpPr>
        <p:spPr>
          <a:xfrm>
            <a:off x="762000" y="1209675"/>
            <a:ext cx="6096000" cy="352425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"/>
          <p:cNvSpPr txBox="1"/>
          <p:nvPr/>
        </p:nvSpPr>
        <p:spPr>
          <a:xfrm>
            <a:off x="876300" y="132397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名称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4838700" y="132397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大小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5695950" y="1323975"/>
            <a:ext cx="4191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修改时间</a:t>
            </a:r>
          </a:p>
        </p:txBody>
      </p:sp>
      <p:sp>
        <p:nvSpPr>
          <p:cNvPr id="40" name="Rectangle"/>
          <p:cNvSpPr/>
          <p:nvPr/>
        </p:nvSpPr>
        <p:spPr>
          <a:xfrm>
            <a:off x="901700" y="1692275"/>
            <a:ext cx="101600" cy="120650"/>
          </a:xfrm>
          <a:prstGeom prst="roundRect">
            <a:avLst>
              <a:gd name="adj" fmla="val 12500"/>
            </a:avLst>
          </a:prstGeom>
          <a:noFill/>
          <a:ln w="12700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1" name="Path"/>
          <p:cNvSpPr/>
          <p:nvPr/>
        </p:nvSpPr>
        <p:spPr>
          <a:xfrm>
            <a:off x="923848" y="1720773"/>
            <a:ext cx="57303" cy="63653"/>
          </a:xfrm>
          <a:custGeom>
            <a:avLst/>
            <a:gdLst/>
            <a:ahLst/>
            <a:cxnLst/>
            <a:rect l="0" t="0" r="r" b="b"/>
            <a:pathLst>
              <a:path w="57303" h="63653">
                <a:moveTo>
                  <a:pt x="50877" y="77"/>
                </a:moveTo>
                <a:lnTo>
                  <a:pt x="6427" y="77"/>
                </a:lnTo>
                <a:quadBezTo>
                  <a:pt x="3765" y="0"/>
                  <a:pt x="1936" y="1936"/>
                </a:quadBezTo>
                <a:quadBezTo>
                  <a:pt x="0" y="3765"/>
                  <a:pt x="77" y="6427"/>
                </a:quadBezTo>
                <a:quadBezTo>
                  <a:pt x="0" y="9089"/>
                  <a:pt x="1936" y="10917"/>
                </a:quadBezTo>
                <a:quadBezTo>
                  <a:pt x="3765" y="12853"/>
                  <a:pt x="6427" y="12777"/>
                </a:quadBezTo>
                <a:lnTo>
                  <a:pt x="50877" y="12777"/>
                </a:lnTo>
                <a:quadBezTo>
                  <a:pt x="53539" y="12853"/>
                  <a:pt x="55367" y="10917"/>
                </a:quadBezTo>
                <a:quadBezTo>
                  <a:pt x="57303" y="9089"/>
                  <a:pt x="57227" y="6427"/>
                </a:quadBezTo>
                <a:quadBezTo>
                  <a:pt x="57303" y="3765"/>
                  <a:pt x="55367" y="1936"/>
                </a:quadBezTo>
                <a:quadBezTo>
                  <a:pt x="53539" y="0"/>
                  <a:pt x="50877" y="77"/>
                </a:quadBezTo>
                <a:close/>
                <a:moveTo>
                  <a:pt x="50877" y="25477"/>
                </a:moveTo>
                <a:lnTo>
                  <a:pt x="6427" y="25477"/>
                </a:lnTo>
                <a:quadBezTo>
                  <a:pt x="3765" y="25400"/>
                  <a:pt x="1936" y="27336"/>
                </a:quadBezTo>
                <a:quadBezTo>
                  <a:pt x="0" y="29165"/>
                  <a:pt x="77" y="31827"/>
                </a:quadBezTo>
                <a:quadBezTo>
                  <a:pt x="0" y="34489"/>
                  <a:pt x="1936" y="36317"/>
                </a:quadBezTo>
                <a:quadBezTo>
                  <a:pt x="3765" y="38253"/>
                  <a:pt x="6427" y="38177"/>
                </a:quadBezTo>
                <a:lnTo>
                  <a:pt x="50877" y="38177"/>
                </a:lnTo>
                <a:quadBezTo>
                  <a:pt x="53539" y="38253"/>
                  <a:pt x="55367" y="36317"/>
                </a:quadBezTo>
                <a:quadBezTo>
                  <a:pt x="57303" y="34489"/>
                  <a:pt x="57227" y="31827"/>
                </a:quadBezTo>
                <a:quadBezTo>
                  <a:pt x="57303" y="29165"/>
                  <a:pt x="55367" y="27336"/>
                </a:quadBezTo>
                <a:quadBezTo>
                  <a:pt x="53539" y="25400"/>
                  <a:pt x="50877" y="25477"/>
                </a:quadBezTo>
                <a:close/>
                <a:moveTo>
                  <a:pt x="35002" y="50877"/>
                </a:moveTo>
                <a:lnTo>
                  <a:pt x="6427" y="50877"/>
                </a:lnTo>
                <a:quadBezTo>
                  <a:pt x="3765" y="50800"/>
                  <a:pt x="1936" y="52736"/>
                </a:quadBezTo>
                <a:quadBezTo>
                  <a:pt x="0" y="54565"/>
                  <a:pt x="77" y="57227"/>
                </a:quadBezTo>
                <a:quadBezTo>
                  <a:pt x="0" y="59889"/>
                  <a:pt x="1936" y="61717"/>
                </a:quadBezTo>
                <a:quadBezTo>
                  <a:pt x="3765" y="63653"/>
                  <a:pt x="6427" y="63577"/>
                </a:quadBezTo>
                <a:lnTo>
                  <a:pt x="35002" y="63577"/>
                </a:lnTo>
                <a:quadBezTo>
                  <a:pt x="37664" y="63653"/>
                  <a:pt x="39492" y="61717"/>
                </a:quadBezTo>
                <a:quadBezTo>
                  <a:pt x="41428" y="59889"/>
                  <a:pt x="41352" y="57227"/>
                </a:quadBezTo>
                <a:quadBezTo>
                  <a:pt x="41428" y="54565"/>
                  <a:pt x="39492" y="52736"/>
                </a:quadBezTo>
                <a:quadBezTo>
                  <a:pt x="37664" y="50800"/>
                  <a:pt x="35002" y="50877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"/>
          <p:cNvSpPr txBox="1"/>
          <p:nvPr/>
        </p:nvSpPr>
        <p:spPr>
          <a:xfrm>
            <a:off x="1104900" y="16764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deploy.zip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4838700" y="1676400"/>
            <a:ext cx="48006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48.2 MB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5695950" y="16764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10-18 14:02</a:t>
            </a:r>
          </a:p>
        </p:txBody>
      </p:sp>
      <p:sp>
        <p:nvSpPr>
          <p:cNvPr id="45" name="Rectangle"/>
          <p:cNvSpPr/>
          <p:nvPr/>
        </p:nvSpPr>
        <p:spPr>
          <a:xfrm>
            <a:off x="901700" y="2073275"/>
            <a:ext cx="101600" cy="120650"/>
          </a:xfrm>
          <a:prstGeom prst="roundRect">
            <a:avLst>
              <a:gd name="adj" fmla="val 12500"/>
            </a:avLst>
          </a:prstGeom>
          <a:noFill/>
          <a:ln w="12700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6" name="Path"/>
          <p:cNvSpPr/>
          <p:nvPr/>
        </p:nvSpPr>
        <p:spPr>
          <a:xfrm>
            <a:off x="923848" y="2101773"/>
            <a:ext cx="57303" cy="63653"/>
          </a:xfrm>
          <a:custGeom>
            <a:avLst/>
            <a:gdLst/>
            <a:ahLst/>
            <a:cxnLst/>
            <a:rect l="0" t="0" r="r" b="b"/>
            <a:pathLst>
              <a:path w="57303" h="63653">
                <a:moveTo>
                  <a:pt x="50877" y="77"/>
                </a:moveTo>
                <a:lnTo>
                  <a:pt x="6427" y="77"/>
                </a:lnTo>
                <a:quadBezTo>
                  <a:pt x="3765" y="0"/>
                  <a:pt x="1936" y="1936"/>
                </a:quadBezTo>
                <a:quadBezTo>
                  <a:pt x="0" y="3765"/>
                  <a:pt x="77" y="6427"/>
                </a:quadBezTo>
                <a:quadBezTo>
                  <a:pt x="0" y="9089"/>
                  <a:pt x="1936" y="10917"/>
                </a:quadBezTo>
                <a:quadBezTo>
                  <a:pt x="3765" y="12853"/>
                  <a:pt x="6427" y="12777"/>
                </a:quadBezTo>
                <a:lnTo>
                  <a:pt x="50877" y="12777"/>
                </a:lnTo>
                <a:quadBezTo>
                  <a:pt x="53539" y="12853"/>
                  <a:pt x="55367" y="10917"/>
                </a:quadBezTo>
                <a:quadBezTo>
                  <a:pt x="57303" y="9089"/>
                  <a:pt x="57227" y="6427"/>
                </a:quadBezTo>
                <a:quadBezTo>
                  <a:pt x="57303" y="3765"/>
                  <a:pt x="55367" y="1936"/>
                </a:quadBezTo>
                <a:quadBezTo>
                  <a:pt x="53539" y="0"/>
                  <a:pt x="50877" y="77"/>
                </a:quadBezTo>
                <a:close/>
                <a:moveTo>
                  <a:pt x="50877" y="25477"/>
                </a:moveTo>
                <a:lnTo>
                  <a:pt x="6427" y="25477"/>
                </a:lnTo>
                <a:quadBezTo>
                  <a:pt x="3765" y="25400"/>
                  <a:pt x="1936" y="27336"/>
                </a:quadBezTo>
                <a:quadBezTo>
                  <a:pt x="0" y="29165"/>
                  <a:pt x="77" y="31827"/>
                </a:quadBezTo>
                <a:quadBezTo>
                  <a:pt x="0" y="34489"/>
                  <a:pt x="1936" y="36317"/>
                </a:quadBezTo>
                <a:quadBezTo>
                  <a:pt x="3765" y="38253"/>
                  <a:pt x="6427" y="38177"/>
                </a:quadBezTo>
                <a:lnTo>
                  <a:pt x="50877" y="38177"/>
                </a:lnTo>
                <a:quadBezTo>
                  <a:pt x="53539" y="38253"/>
                  <a:pt x="55367" y="36317"/>
                </a:quadBezTo>
                <a:quadBezTo>
                  <a:pt x="57303" y="34489"/>
                  <a:pt x="57227" y="31827"/>
                </a:quadBezTo>
                <a:quadBezTo>
                  <a:pt x="57303" y="29165"/>
                  <a:pt x="55367" y="27336"/>
                </a:quadBezTo>
                <a:quadBezTo>
                  <a:pt x="53539" y="25400"/>
                  <a:pt x="50877" y="25477"/>
                </a:quadBezTo>
                <a:close/>
                <a:moveTo>
                  <a:pt x="35002" y="50877"/>
                </a:moveTo>
                <a:lnTo>
                  <a:pt x="6427" y="50877"/>
                </a:lnTo>
                <a:quadBezTo>
                  <a:pt x="3765" y="50800"/>
                  <a:pt x="1936" y="52736"/>
                </a:quadBezTo>
                <a:quadBezTo>
                  <a:pt x="0" y="54565"/>
                  <a:pt x="77" y="57227"/>
                </a:quadBezTo>
                <a:quadBezTo>
                  <a:pt x="0" y="59889"/>
                  <a:pt x="1936" y="61717"/>
                </a:quadBezTo>
                <a:quadBezTo>
                  <a:pt x="3765" y="63653"/>
                  <a:pt x="6427" y="63577"/>
                </a:quadBezTo>
                <a:lnTo>
                  <a:pt x="35002" y="63577"/>
                </a:lnTo>
                <a:quadBezTo>
                  <a:pt x="37664" y="63653"/>
                  <a:pt x="39492" y="61717"/>
                </a:quadBezTo>
                <a:quadBezTo>
                  <a:pt x="41428" y="59889"/>
                  <a:pt x="41352" y="57227"/>
                </a:quadBezTo>
                <a:quadBezTo>
                  <a:pt x="41428" y="54565"/>
                  <a:pt x="39492" y="52736"/>
                </a:quadBezTo>
                <a:quadBezTo>
                  <a:pt x="37664" y="50800"/>
                  <a:pt x="35002" y="50877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"/>
          <p:cNvSpPr txBox="1"/>
          <p:nvPr/>
        </p:nvSpPr>
        <p:spPr>
          <a:xfrm>
            <a:off x="1104900" y="20574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nginx.conf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4838700" y="20574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2.1 KB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5695950" y="20574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10-17 09:30</a:t>
            </a:r>
          </a:p>
        </p:txBody>
      </p:sp>
      <p:sp>
        <p:nvSpPr>
          <p:cNvPr id="50" name="Path"/>
          <p:cNvSpPr/>
          <p:nvPr/>
        </p:nvSpPr>
        <p:spPr>
          <a:xfrm>
            <a:off x="892175" y="2463795"/>
            <a:ext cx="133350" cy="111130"/>
          </a:xfrm>
          <a:custGeom>
            <a:avLst/>
            <a:gdLst/>
            <a:ahLst/>
            <a:cxnLst/>
            <a:rect l="0" t="0" r="r" b="b"/>
            <a:pathLst>
              <a:path w="133350" h="111130">
                <a:moveTo>
                  <a:pt x="5580" y="5584"/>
                </a:moveTo>
                <a:quadBezTo>
                  <a:pt x="11159" y="5"/>
                  <a:pt x="19050" y="5"/>
                </a:quadBezTo>
                <a:lnTo>
                  <a:pt x="45720" y="5"/>
                </a:lnTo>
                <a:quadBezTo>
                  <a:pt x="46984" y="0"/>
                  <a:pt x="48150" y="488"/>
                </a:quadBezTo>
                <a:quadBezTo>
                  <a:pt x="49320" y="967"/>
                  <a:pt x="50210" y="1865"/>
                </a:quadBezTo>
                <a:lnTo>
                  <a:pt x="61050" y="12705"/>
                </a:lnTo>
                <a:lnTo>
                  <a:pt x="114300" y="12705"/>
                </a:lnTo>
                <a:quadBezTo>
                  <a:pt x="122191" y="12705"/>
                  <a:pt x="127770" y="18284"/>
                </a:quadBezTo>
                <a:quadBezTo>
                  <a:pt x="133350" y="23864"/>
                  <a:pt x="133350" y="31755"/>
                </a:quadBezTo>
                <a:lnTo>
                  <a:pt x="133350" y="92080"/>
                </a:lnTo>
                <a:quadBezTo>
                  <a:pt x="133350" y="99970"/>
                  <a:pt x="127770" y="105550"/>
                </a:quadBezTo>
                <a:quadBezTo>
                  <a:pt x="122191" y="111130"/>
                  <a:pt x="114300" y="111130"/>
                </a:quadBezTo>
                <a:lnTo>
                  <a:pt x="19050" y="111130"/>
                </a:lnTo>
                <a:quadBezTo>
                  <a:pt x="11159" y="111130"/>
                  <a:pt x="5580" y="105550"/>
                </a:quadBezTo>
                <a:quadBezTo>
                  <a:pt x="0" y="99971"/>
                  <a:pt x="0" y="92080"/>
                </a:quadBezTo>
                <a:lnTo>
                  <a:pt x="0" y="19055"/>
                </a:lnTo>
                <a:quadBezTo>
                  <a:pt x="0" y="11164"/>
                  <a:pt x="5580" y="5584"/>
                </a:quadBezTo>
                <a:lnTo>
                  <a:pt x="5580" y="5584"/>
                </a:lnTo>
                <a:close/>
                <a:moveTo>
                  <a:pt x="14560" y="14565"/>
                </a:moveTo>
                <a:quadBezTo>
                  <a:pt x="12700" y="16424"/>
                  <a:pt x="12700" y="19055"/>
                </a:quadBezTo>
                <a:lnTo>
                  <a:pt x="12700" y="92080"/>
                </a:lnTo>
                <a:quadBezTo>
                  <a:pt x="12700" y="94710"/>
                  <a:pt x="14560" y="96570"/>
                </a:quadBezTo>
                <a:quadBezTo>
                  <a:pt x="16420" y="98430"/>
                  <a:pt x="19050" y="98430"/>
                </a:quadBezTo>
                <a:lnTo>
                  <a:pt x="114300" y="98430"/>
                </a:lnTo>
                <a:quadBezTo>
                  <a:pt x="116930" y="98430"/>
                  <a:pt x="118790" y="96570"/>
                </a:quadBezTo>
                <a:quadBezTo>
                  <a:pt x="120650" y="94710"/>
                  <a:pt x="120650" y="92080"/>
                </a:quadBezTo>
                <a:lnTo>
                  <a:pt x="120650" y="31755"/>
                </a:lnTo>
                <a:quadBezTo>
                  <a:pt x="120650" y="29124"/>
                  <a:pt x="118790" y="27265"/>
                </a:quadBezTo>
                <a:quadBezTo>
                  <a:pt x="116930" y="25405"/>
                  <a:pt x="114300" y="25405"/>
                </a:quadBezTo>
                <a:lnTo>
                  <a:pt x="58420" y="25405"/>
                </a:lnTo>
                <a:quadBezTo>
                  <a:pt x="57156" y="25409"/>
                  <a:pt x="55990" y="24921"/>
                </a:quadBezTo>
                <a:quadBezTo>
                  <a:pt x="54820" y="24442"/>
                  <a:pt x="53930" y="23545"/>
                </a:quadBezTo>
                <a:lnTo>
                  <a:pt x="43090" y="12705"/>
                </a:lnTo>
                <a:lnTo>
                  <a:pt x="19050" y="12705"/>
                </a:lnTo>
                <a:quadBezTo>
                  <a:pt x="16420" y="12705"/>
                  <a:pt x="14560" y="14565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"/>
          <p:cNvSpPr txBox="1"/>
          <p:nvPr/>
        </p:nvSpPr>
        <p:spPr>
          <a:xfrm>
            <a:off x="1104900" y="2438400"/>
            <a:ext cx="274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logs</a:t>
            </a:r>
          </a:p>
        </p:txBody>
      </p:sp>
      <p:sp>
        <p:nvSpPr>
          <p:cNvPr id="52" name="TextBox"/>
          <p:cNvSpPr txBox="1"/>
          <p:nvPr/>
        </p:nvSpPr>
        <p:spPr>
          <a:xfrm>
            <a:off x="5695950" y="24384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10-16 18:45</a:t>
            </a:r>
          </a:p>
        </p:txBody>
      </p:sp>
      <p:sp>
        <p:nvSpPr>
          <p:cNvPr id="53" name="Rectangle"/>
          <p:cNvSpPr/>
          <p:nvPr/>
        </p:nvSpPr>
        <p:spPr>
          <a:xfrm>
            <a:off x="762000" y="2705100"/>
            <a:ext cx="6096000" cy="381000"/>
          </a:xfrm>
          <a:prstGeom prst="roundRect">
            <a:avLst>
              <a:gd name="adj" fmla="val 20000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"/>
          <p:cNvSpPr/>
          <p:nvPr/>
        </p:nvSpPr>
        <p:spPr>
          <a:xfrm>
            <a:off x="901700" y="2835275"/>
            <a:ext cx="101600" cy="120650"/>
          </a:xfrm>
          <a:prstGeom prst="roundRect">
            <a:avLst>
              <a:gd name="adj" fmla="val 12500"/>
            </a:avLst>
          </a:prstGeom>
          <a:noFill/>
          <a:ln w="12700">
            <a:solidFill>
              <a:srgbClr val="1A73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5" name="Path"/>
          <p:cNvSpPr/>
          <p:nvPr/>
        </p:nvSpPr>
        <p:spPr>
          <a:xfrm>
            <a:off x="923848" y="2863773"/>
            <a:ext cx="57303" cy="63653"/>
          </a:xfrm>
          <a:custGeom>
            <a:avLst/>
            <a:gdLst/>
            <a:ahLst/>
            <a:cxnLst/>
            <a:rect l="0" t="0" r="r" b="b"/>
            <a:pathLst>
              <a:path w="57303" h="63653">
                <a:moveTo>
                  <a:pt x="50877" y="77"/>
                </a:moveTo>
                <a:lnTo>
                  <a:pt x="6427" y="77"/>
                </a:lnTo>
                <a:quadBezTo>
                  <a:pt x="3765" y="0"/>
                  <a:pt x="1936" y="1936"/>
                </a:quadBezTo>
                <a:quadBezTo>
                  <a:pt x="0" y="3765"/>
                  <a:pt x="77" y="6427"/>
                </a:quadBezTo>
                <a:quadBezTo>
                  <a:pt x="0" y="9089"/>
                  <a:pt x="1936" y="10917"/>
                </a:quadBezTo>
                <a:quadBezTo>
                  <a:pt x="3765" y="12853"/>
                  <a:pt x="6427" y="12777"/>
                </a:quadBezTo>
                <a:lnTo>
                  <a:pt x="50877" y="12777"/>
                </a:lnTo>
                <a:quadBezTo>
                  <a:pt x="53539" y="12853"/>
                  <a:pt x="55367" y="10917"/>
                </a:quadBezTo>
                <a:quadBezTo>
                  <a:pt x="57303" y="9089"/>
                  <a:pt x="57227" y="6427"/>
                </a:quadBezTo>
                <a:quadBezTo>
                  <a:pt x="57303" y="3765"/>
                  <a:pt x="55367" y="1936"/>
                </a:quadBezTo>
                <a:quadBezTo>
                  <a:pt x="53539" y="0"/>
                  <a:pt x="50877" y="77"/>
                </a:quadBezTo>
                <a:close/>
                <a:moveTo>
                  <a:pt x="50877" y="25477"/>
                </a:moveTo>
                <a:lnTo>
                  <a:pt x="6427" y="25477"/>
                </a:lnTo>
                <a:quadBezTo>
                  <a:pt x="3765" y="25400"/>
                  <a:pt x="1936" y="27336"/>
                </a:quadBezTo>
                <a:quadBezTo>
                  <a:pt x="0" y="29165"/>
                  <a:pt x="77" y="31827"/>
                </a:quadBezTo>
                <a:quadBezTo>
                  <a:pt x="0" y="34489"/>
                  <a:pt x="1936" y="36317"/>
                </a:quadBezTo>
                <a:quadBezTo>
                  <a:pt x="3765" y="38253"/>
                  <a:pt x="6427" y="38177"/>
                </a:quadBezTo>
                <a:lnTo>
                  <a:pt x="50877" y="38177"/>
                </a:lnTo>
                <a:quadBezTo>
                  <a:pt x="53539" y="38253"/>
                  <a:pt x="55367" y="36317"/>
                </a:quadBezTo>
                <a:quadBezTo>
                  <a:pt x="57303" y="34489"/>
                  <a:pt x="57227" y="31827"/>
                </a:quadBezTo>
                <a:quadBezTo>
                  <a:pt x="57303" y="29165"/>
                  <a:pt x="55367" y="27336"/>
                </a:quadBezTo>
                <a:quadBezTo>
                  <a:pt x="53539" y="25400"/>
                  <a:pt x="50877" y="25477"/>
                </a:quadBezTo>
                <a:close/>
                <a:moveTo>
                  <a:pt x="35002" y="50877"/>
                </a:moveTo>
                <a:lnTo>
                  <a:pt x="6427" y="50877"/>
                </a:lnTo>
                <a:quadBezTo>
                  <a:pt x="3765" y="50800"/>
                  <a:pt x="1936" y="52736"/>
                </a:quadBezTo>
                <a:quadBezTo>
                  <a:pt x="0" y="54565"/>
                  <a:pt x="77" y="57227"/>
                </a:quadBezTo>
                <a:quadBezTo>
                  <a:pt x="0" y="59889"/>
                  <a:pt x="1936" y="61717"/>
                </a:quadBezTo>
                <a:quadBezTo>
                  <a:pt x="3765" y="63653"/>
                  <a:pt x="6427" y="63577"/>
                </a:quadBezTo>
                <a:lnTo>
                  <a:pt x="35002" y="63577"/>
                </a:lnTo>
                <a:quadBezTo>
                  <a:pt x="37664" y="63653"/>
                  <a:pt x="39492" y="61717"/>
                </a:quadBezTo>
                <a:quadBezTo>
                  <a:pt x="41428" y="59889"/>
                  <a:pt x="41352" y="57227"/>
                </a:quadBezTo>
                <a:quadBezTo>
                  <a:pt x="41428" y="54565"/>
                  <a:pt x="39492" y="52736"/>
                </a:quadBezTo>
                <a:quadBezTo>
                  <a:pt x="37664" y="50800"/>
                  <a:pt x="35002" y="50877"/>
                </a:quad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"/>
          <p:cNvSpPr txBox="1"/>
          <p:nvPr/>
        </p:nvSpPr>
        <p:spPr>
          <a:xfrm>
            <a:off x="1104900" y="28194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A73E8"/>
                </a:solidFill>
                <a:latin typeface="JetBrains Mono"/>
                <a:ea typeface="JetBrains Mono"/>
                <a:cs typeface="JetBrains Mono"/>
              </a:rPr>
              <a:t>backup.sql</a:t>
            </a:r>
          </a:p>
        </p:txBody>
      </p:sp>
      <p:sp>
        <p:nvSpPr>
          <p:cNvPr id="57" name="TextBox"/>
          <p:cNvSpPr txBox="1"/>
          <p:nvPr/>
        </p:nvSpPr>
        <p:spPr>
          <a:xfrm>
            <a:off x="4838700" y="28194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A73E8"/>
                </a:solidFill>
                <a:latin typeface="JetBrains Mono"/>
                <a:ea typeface="JetBrains Mono"/>
                <a:cs typeface="JetBrains Mono"/>
              </a:rPr>
              <a:t>856 MB</a:t>
            </a:r>
          </a:p>
        </p:txBody>
      </p:sp>
      <p:sp>
        <p:nvSpPr>
          <p:cNvPr id="58" name="TextBox"/>
          <p:cNvSpPr txBox="1"/>
          <p:nvPr/>
        </p:nvSpPr>
        <p:spPr>
          <a:xfrm>
            <a:off x="5695950" y="28194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1A73E8"/>
                </a:solidFill>
                <a:latin typeface="JetBrains Mono"/>
                <a:ea typeface="JetBrains Mono"/>
                <a:cs typeface="JetBrains Mono"/>
              </a:rPr>
              <a:t>10-15 23:10</a:t>
            </a:r>
          </a:p>
        </p:txBody>
      </p:sp>
      <p:sp>
        <p:nvSpPr>
          <p:cNvPr id="59" name="TextBox"/>
          <p:cNvSpPr txBox="1"/>
          <p:nvPr/>
        </p:nvSpPr>
        <p:spPr>
          <a:xfrm>
            <a:off x="2724150" y="6267450"/>
            <a:ext cx="21717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9AA0A6"/>
                </a:solidFill>
                <a:latin typeface="Inter"/>
                <a:ea typeface="Inter"/>
                <a:cs typeface="Inter"/>
              </a:rPr>
              <a:t>选中文件后点击中间箭头，或直接拖拽传输</a:t>
            </a:r>
          </a:p>
        </p:txBody>
      </p:sp>
      <p:sp>
        <p:nvSpPr>
          <p:cNvPr id="60" name="Rectangle"/>
          <p:cNvSpPr/>
          <p:nvPr/>
        </p:nvSpPr>
        <p:spPr>
          <a:xfrm>
            <a:off x="766763" y="785813"/>
            <a:ext cx="6086475" cy="5810250"/>
          </a:xfrm>
          <a:prstGeom prst="roundRect">
            <a:avLst>
              <a:gd name="adj" fmla="val 1885"/>
            </a:avLst>
          </a:prstGeom>
          <a:noFill/>
          <a:ln w="9525">
            <a:solidFill>
              <a:srgbClr val="E5E7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"/>
          <p:cNvSpPr/>
          <p:nvPr/>
        </p:nvSpPr>
        <p:spPr>
          <a:xfrm>
            <a:off x="6972300" y="3267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>
            <a:outerShdw blurRad="57150" dist="38100" dir="5400000" algn="ctr" rotWithShape="0">
              <a:srgbClr val="1A73E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Path"/>
          <p:cNvSpPr/>
          <p:nvPr/>
        </p:nvSpPr>
        <p:spPr>
          <a:xfrm>
            <a:off x="7111280" y="3409231"/>
            <a:ext cx="106214" cy="96689"/>
          </a:xfrm>
          <a:custGeom>
            <a:avLst/>
            <a:gdLst/>
            <a:ahLst/>
            <a:cxnLst/>
            <a:rect l="0" t="0" r="r" b="b"/>
            <a:pathLst>
              <a:path w="106214" h="96689">
                <a:moveTo>
                  <a:pt x="62808" y="2130"/>
                </a:moveTo>
                <a:lnTo>
                  <a:pt x="104083" y="43405"/>
                </a:lnTo>
                <a:quadBezTo>
                  <a:pt x="106214" y="45416"/>
                  <a:pt x="106129" y="48344"/>
                </a:quadBezTo>
                <a:quadBezTo>
                  <a:pt x="106214" y="51272"/>
                  <a:pt x="104083" y="53283"/>
                </a:quadBezTo>
                <a:lnTo>
                  <a:pt x="62808" y="94558"/>
                </a:lnTo>
                <a:quadBezTo>
                  <a:pt x="60797" y="96689"/>
                  <a:pt x="57869" y="96604"/>
                </a:quadBezTo>
                <a:quadBezTo>
                  <a:pt x="54941" y="96689"/>
                  <a:pt x="52930" y="94558"/>
                </a:quadBezTo>
                <a:quadBezTo>
                  <a:pt x="50800" y="92547"/>
                  <a:pt x="50884" y="89619"/>
                </a:quadBezTo>
                <a:quadBezTo>
                  <a:pt x="50800" y="86691"/>
                  <a:pt x="52930" y="84680"/>
                </a:quadBezTo>
                <a:lnTo>
                  <a:pt x="82281" y="55329"/>
                </a:lnTo>
                <a:lnTo>
                  <a:pt x="7069" y="55329"/>
                </a:lnTo>
                <a:quadBezTo>
                  <a:pt x="4141" y="55414"/>
                  <a:pt x="2130" y="53283"/>
                </a:quadBezTo>
                <a:quadBezTo>
                  <a:pt x="0" y="51272"/>
                  <a:pt x="84" y="48344"/>
                </a:quadBezTo>
                <a:quadBezTo>
                  <a:pt x="0" y="45416"/>
                  <a:pt x="2130" y="43405"/>
                </a:quadBezTo>
                <a:quadBezTo>
                  <a:pt x="4141" y="41275"/>
                  <a:pt x="7069" y="41359"/>
                </a:quadBezTo>
                <a:lnTo>
                  <a:pt x="82281" y="41359"/>
                </a:lnTo>
                <a:lnTo>
                  <a:pt x="52930" y="12008"/>
                </a:lnTo>
                <a:quadBezTo>
                  <a:pt x="50800" y="9997"/>
                  <a:pt x="50884" y="7069"/>
                </a:quadBezTo>
                <a:quadBezTo>
                  <a:pt x="50800" y="4141"/>
                  <a:pt x="52930" y="2130"/>
                </a:quadBezTo>
                <a:quadBezTo>
                  <a:pt x="54941" y="0"/>
                  <a:pt x="57869" y="84"/>
                </a:quadBezTo>
                <a:quadBezTo>
                  <a:pt x="60797" y="0"/>
                  <a:pt x="62808" y="21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38100" dir="5400000" algn="ctr" rotWithShape="0">
              <a:srgbClr val="1A73E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Rectangle"/>
          <p:cNvSpPr/>
          <p:nvPr/>
        </p:nvSpPr>
        <p:spPr>
          <a:xfrm>
            <a:off x="6972300" y="37433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Path"/>
          <p:cNvSpPr/>
          <p:nvPr/>
        </p:nvSpPr>
        <p:spPr>
          <a:xfrm>
            <a:off x="7108106" y="3885481"/>
            <a:ext cx="106214" cy="96689"/>
          </a:xfrm>
          <a:custGeom>
            <a:avLst/>
            <a:gdLst/>
            <a:ahLst/>
            <a:cxnLst/>
            <a:rect l="0" t="0" r="r" b="b"/>
            <a:pathLst>
              <a:path w="106214" h="96689">
                <a:moveTo>
                  <a:pt x="23933" y="41359"/>
                </a:moveTo>
                <a:lnTo>
                  <a:pt x="53283" y="12008"/>
                </a:lnTo>
                <a:quadBezTo>
                  <a:pt x="55414" y="9997"/>
                  <a:pt x="55329" y="7069"/>
                </a:quadBezTo>
                <a:quadBezTo>
                  <a:pt x="55414" y="4141"/>
                  <a:pt x="53283" y="2130"/>
                </a:quadBezTo>
                <a:quadBezTo>
                  <a:pt x="51272" y="0"/>
                  <a:pt x="48344" y="84"/>
                </a:quadBezTo>
                <a:quadBezTo>
                  <a:pt x="45416" y="0"/>
                  <a:pt x="43405" y="2130"/>
                </a:quadBezTo>
                <a:lnTo>
                  <a:pt x="2130" y="43405"/>
                </a:lnTo>
                <a:quadBezTo>
                  <a:pt x="0" y="45416"/>
                  <a:pt x="84" y="48344"/>
                </a:quadBezTo>
                <a:quadBezTo>
                  <a:pt x="0" y="51272"/>
                  <a:pt x="2130" y="53283"/>
                </a:quadBezTo>
                <a:lnTo>
                  <a:pt x="43405" y="94558"/>
                </a:lnTo>
                <a:quadBezTo>
                  <a:pt x="45416" y="96689"/>
                  <a:pt x="48344" y="96604"/>
                </a:quadBezTo>
                <a:quadBezTo>
                  <a:pt x="51272" y="96689"/>
                  <a:pt x="53283" y="94558"/>
                </a:quadBezTo>
                <a:quadBezTo>
                  <a:pt x="55414" y="92547"/>
                  <a:pt x="55329" y="89619"/>
                </a:quadBezTo>
                <a:quadBezTo>
                  <a:pt x="55414" y="86691"/>
                  <a:pt x="53283" y="84680"/>
                </a:quadBezTo>
                <a:lnTo>
                  <a:pt x="23933" y="55329"/>
                </a:lnTo>
                <a:lnTo>
                  <a:pt x="99144" y="55329"/>
                </a:lnTo>
                <a:quadBezTo>
                  <a:pt x="102072" y="55414"/>
                  <a:pt x="104083" y="53283"/>
                </a:quadBezTo>
                <a:quadBezTo>
                  <a:pt x="106214" y="51272"/>
                  <a:pt x="106129" y="48344"/>
                </a:quadBezTo>
                <a:quadBezTo>
                  <a:pt x="106214" y="45416"/>
                  <a:pt x="104083" y="43405"/>
                </a:quadBezTo>
                <a:quadBezTo>
                  <a:pt x="102072" y="41275"/>
                  <a:pt x="99144" y="41359"/>
                </a:quadBezTo>
                <a:lnTo>
                  <a:pt x="23933" y="41359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"/>
          <p:cNvSpPr/>
          <p:nvPr/>
        </p:nvSpPr>
        <p:spPr>
          <a:xfrm>
            <a:off x="6977063" y="3748088"/>
            <a:ext cx="37147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ADCE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"/>
          <p:cNvSpPr/>
          <p:nvPr/>
        </p:nvSpPr>
        <p:spPr>
          <a:xfrm>
            <a:off x="7467600" y="781050"/>
            <a:ext cx="6096000" cy="5819775"/>
          </a:xfrm>
          <a:prstGeom prst="roundRect">
            <a:avLst>
              <a:gd name="adj" fmla="val 196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Box"/>
          <p:cNvSpPr txBox="1"/>
          <p:nvPr/>
        </p:nvSpPr>
        <p:spPr>
          <a:xfrm>
            <a:off x="7600950" y="914400"/>
            <a:ext cx="2476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202124"/>
                </a:solidFill>
                <a:latin typeface="Inter Bold"/>
                <a:ea typeface="Inter Bold"/>
                <a:cs typeface="Inter Bold"/>
              </a:rPr>
              <a:t>远程</a:t>
            </a:r>
          </a:p>
        </p:txBody>
      </p:sp>
      <p:sp>
        <p:nvSpPr>
          <p:cNvPr id="68" name="TextBox"/>
          <p:cNvSpPr txBox="1"/>
          <p:nvPr/>
        </p:nvSpPr>
        <p:spPr>
          <a:xfrm>
            <a:off x="12611100" y="923925"/>
            <a:ext cx="81724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/var/www/html</a:t>
            </a:r>
          </a:p>
        </p:txBody>
      </p:sp>
      <p:sp>
        <p:nvSpPr>
          <p:cNvPr id="69" name="Rectangle"/>
          <p:cNvSpPr/>
          <p:nvPr/>
        </p:nvSpPr>
        <p:spPr>
          <a:xfrm>
            <a:off x="7467600" y="1200150"/>
            <a:ext cx="6096000" cy="9525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"/>
          <p:cNvSpPr/>
          <p:nvPr/>
        </p:nvSpPr>
        <p:spPr>
          <a:xfrm>
            <a:off x="7467600" y="1209675"/>
            <a:ext cx="6096000" cy="352425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Box"/>
          <p:cNvSpPr txBox="1"/>
          <p:nvPr/>
        </p:nvSpPr>
        <p:spPr>
          <a:xfrm>
            <a:off x="7581900" y="132397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名称</a:t>
            </a:r>
          </a:p>
        </p:txBody>
      </p:sp>
      <p:sp>
        <p:nvSpPr>
          <p:cNvPr id="72" name="TextBox"/>
          <p:cNvSpPr txBox="1"/>
          <p:nvPr/>
        </p:nvSpPr>
        <p:spPr>
          <a:xfrm>
            <a:off x="11544300" y="1323975"/>
            <a:ext cx="20955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大小</a:t>
            </a:r>
          </a:p>
        </p:txBody>
      </p:sp>
      <p:sp>
        <p:nvSpPr>
          <p:cNvPr id="73" name="TextBox"/>
          <p:cNvSpPr txBox="1"/>
          <p:nvPr/>
        </p:nvSpPr>
        <p:spPr>
          <a:xfrm>
            <a:off x="12401550" y="1323975"/>
            <a:ext cx="419100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修改时间</a:t>
            </a:r>
          </a:p>
        </p:txBody>
      </p:sp>
      <p:sp>
        <p:nvSpPr>
          <p:cNvPr id="74" name="Rectangle"/>
          <p:cNvSpPr/>
          <p:nvPr/>
        </p:nvSpPr>
        <p:spPr>
          <a:xfrm>
            <a:off x="7607300" y="1692275"/>
            <a:ext cx="101600" cy="120650"/>
          </a:xfrm>
          <a:prstGeom prst="roundRect">
            <a:avLst>
              <a:gd name="adj" fmla="val 12500"/>
            </a:avLst>
          </a:prstGeom>
          <a:noFill/>
          <a:ln w="12700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75" name="Path"/>
          <p:cNvSpPr/>
          <p:nvPr/>
        </p:nvSpPr>
        <p:spPr>
          <a:xfrm>
            <a:off x="7629448" y="1720773"/>
            <a:ext cx="57303" cy="63653"/>
          </a:xfrm>
          <a:custGeom>
            <a:avLst/>
            <a:gdLst/>
            <a:ahLst/>
            <a:cxnLst/>
            <a:rect l="0" t="0" r="r" b="b"/>
            <a:pathLst>
              <a:path w="57303" h="63653">
                <a:moveTo>
                  <a:pt x="50877" y="77"/>
                </a:moveTo>
                <a:lnTo>
                  <a:pt x="6427" y="77"/>
                </a:lnTo>
                <a:quadBezTo>
                  <a:pt x="3765" y="0"/>
                  <a:pt x="1936" y="1936"/>
                </a:quadBezTo>
                <a:quadBezTo>
                  <a:pt x="0" y="3765"/>
                  <a:pt x="77" y="6427"/>
                </a:quadBezTo>
                <a:quadBezTo>
                  <a:pt x="0" y="9089"/>
                  <a:pt x="1936" y="10917"/>
                </a:quadBezTo>
                <a:quadBezTo>
                  <a:pt x="3765" y="12853"/>
                  <a:pt x="6427" y="12777"/>
                </a:quadBezTo>
                <a:lnTo>
                  <a:pt x="50877" y="12777"/>
                </a:lnTo>
                <a:quadBezTo>
                  <a:pt x="53539" y="12853"/>
                  <a:pt x="55367" y="10917"/>
                </a:quadBezTo>
                <a:quadBezTo>
                  <a:pt x="57303" y="9089"/>
                  <a:pt x="57227" y="6427"/>
                </a:quadBezTo>
                <a:quadBezTo>
                  <a:pt x="57303" y="3765"/>
                  <a:pt x="55367" y="1936"/>
                </a:quadBezTo>
                <a:quadBezTo>
                  <a:pt x="53539" y="0"/>
                  <a:pt x="50877" y="77"/>
                </a:quadBezTo>
                <a:close/>
                <a:moveTo>
                  <a:pt x="50877" y="25477"/>
                </a:moveTo>
                <a:lnTo>
                  <a:pt x="6427" y="25477"/>
                </a:lnTo>
                <a:quadBezTo>
                  <a:pt x="3765" y="25400"/>
                  <a:pt x="1936" y="27336"/>
                </a:quadBezTo>
                <a:quadBezTo>
                  <a:pt x="0" y="29165"/>
                  <a:pt x="77" y="31827"/>
                </a:quadBezTo>
                <a:quadBezTo>
                  <a:pt x="0" y="34489"/>
                  <a:pt x="1936" y="36317"/>
                </a:quadBezTo>
                <a:quadBezTo>
                  <a:pt x="3765" y="38253"/>
                  <a:pt x="6427" y="38177"/>
                </a:quadBezTo>
                <a:lnTo>
                  <a:pt x="50877" y="38177"/>
                </a:lnTo>
                <a:quadBezTo>
                  <a:pt x="53539" y="38253"/>
                  <a:pt x="55367" y="36317"/>
                </a:quadBezTo>
                <a:quadBezTo>
                  <a:pt x="57303" y="34489"/>
                  <a:pt x="57227" y="31827"/>
                </a:quadBezTo>
                <a:quadBezTo>
                  <a:pt x="57303" y="29165"/>
                  <a:pt x="55367" y="27336"/>
                </a:quadBezTo>
                <a:quadBezTo>
                  <a:pt x="53539" y="25400"/>
                  <a:pt x="50877" y="25477"/>
                </a:quadBezTo>
                <a:close/>
                <a:moveTo>
                  <a:pt x="35002" y="50877"/>
                </a:moveTo>
                <a:lnTo>
                  <a:pt x="6427" y="50877"/>
                </a:lnTo>
                <a:quadBezTo>
                  <a:pt x="3765" y="50800"/>
                  <a:pt x="1936" y="52736"/>
                </a:quadBezTo>
                <a:quadBezTo>
                  <a:pt x="0" y="54565"/>
                  <a:pt x="77" y="57227"/>
                </a:quadBezTo>
                <a:quadBezTo>
                  <a:pt x="0" y="59889"/>
                  <a:pt x="1936" y="61717"/>
                </a:quadBezTo>
                <a:quadBezTo>
                  <a:pt x="3765" y="63653"/>
                  <a:pt x="6427" y="63577"/>
                </a:quadBezTo>
                <a:lnTo>
                  <a:pt x="35002" y="63577"/>
                </a:lnTo>
                <a:quadBezTo>
                  <a:pt x="37664" y="63653"/>
                  <a:pt x="39492" y="61717"/>
                </a:quadBezTo>
                <a:quadBezTo>
                  <a:pt x="41428" y="59889"/>
                  <a:pt x="41352" y="57227"/>
                </a:quadBezTo>
                <a:quadBezTo>
                  <a:pt x="41428" y="54565"/>
                  <a:pt x="39492" y="52736"/>
                </a:quadBezTo>
                <a:quadBezTo>
                  <a:pt x="37664" y="50800"/>
                  <a:pt x="35002" y="50877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"/>
          <p:cNvSpPr txBox="1"/>
          <p:nvPr/>
        </p:nvSpPr>
        <p:spPr>
          <a:xfrm>
            <a:off x="7810500" y="16764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index.html</a:t>
            </a:r>
          </a:p>
        </p:txBody>
      </p:sp>
      <p:sp>
        <p:nvSpPr>
          <p:cNvPr id="77" name="TextBox"/>
          <p:cNvSpPr txBox="1"/>
          <p:nvPr/>
        </p:nvSpPr>
        <p:spPr>
          <a:xfrm>
            <a:off x="11544300" y="16764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6.4 KB</a:t>
            </a:r>
          </a:p>
        </p:txBody>
      </p:sp>
      <p:sp>
        <p:nvSpPr>
          <p:cNvPr id="78" name="TextBox"/>
          <p:cNvSpPr txBox="1"/>
          <p:nvPr/>
        </p:nvSpPr>
        <p:spPr>
          <a:xfrm>
            <a:off x="12401550" y="16764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10-18 12:20</a:t>
            </a:r>
          </a:p>
        </p:txBody>
      </p:sp>
      <p:sp>
        <p:nvSpPr>
          <p:cNvPr id="79" name="Path"/>
          <p:cNvSpPr/>
          <p:nvPr/>
        </p:nvSpPr>
        <p:spPr>
          <a:xfrm>
            <a:off x="7597775" y="2082795"/>
            <a:ext cx="133350" cy="111130"/>
          </a:xfrm>
          <a:custGeom>
            <a:avLst/>
            <a:gdLst/>
            <a:ahLst/>
            <a:cxnLst/>
            <a:rect l="0" t="0" r="r" b="b"/>
            <a:pathLst>
              <a:path w="133350" h="111130">
                <a:moveTo>
                  <a:pt x="5580" y="5584"/>
                </a:moveTo>
                <a:quadBezTo>
                  <a:pt x="11159" y="5"/>
                  <a:pt x="19050" y="5"/>
                </a:quadBezTo>
                <a:lnTo>
                  <a:pt x="45720" y="5"/>
                </a:lnTo>
                <a:quadBezTo>
                  <a:pt x="46984" y="0"/>
                  <a:pt x="48150" y="488"/>
                </a:quadBezTo>
                <a:quadBezTo>
                  <a:pt x="49320" y="967"/>
                  <a:pt x="50210" y="1865"/>
                </a:quadBezTo>
                <a:lnTo>
                  <a:pt x="61050" y="12705"/>
                </a:lnTo>
                <a:lnTo>
                  <a:pt x="114300" y="12705"/>
                </a:lnTo>
                <a:quadBezTo>
                  <a:pt x="122191" y="12705"/>
                  <a:pt x="127770" y="18284"/>
                </a:quadBezTo>
                <a:quadBezTo>
                  <a:pt x="133350" y="23864"/>
                  <a:pt x="133350" y="31755"/>
                </a:quadBezTo>
                <a:lnTo>
                  <a:pt x="133350" y="92080"/>
                </a:lnTo>
                <a:quadBezTo>
                  <a:pt x="133350" y="99970"/>
                  <a:pt x="127770" y="105550"/>
                </a:quadBezTo>
                <a:quadBezTo>
                  <a:pt x="122191" y="111130"/>
                  <a:pt x="114300" y="111130"/>
                </a:quadBezTo>
                <a:lnTo>
                  <a:pt x="19050" y="111130"/>
                </a:lnTo>
                <a:quadBezTo>
                  <a:pt x="11159" y="111130"/>
                  <a:pt x="5580" y="105550"/>
                </a:quadBezTo>
                <a:quadBezTo>
                  <a:pt x="0" y="99971"/>
                  <a:pt x="0" y="92080"/>
                </a:quadBezTo>
                <a:lnTo>
                  <a:pt x="0" y="19055"/>
                </a:lnTo>
                <a:quadBezTo>
                  <a:pt x="0" y="11164"/>
                  <a:pt x="5580" y="5584"/>
                </a:quadBezTo>
                <a:lnTo>
                  <a:pt x="5580" y="5584"/>
                </a:lnTo>
                <a:close/>
                <a:moveTo>
                  <a:pt x="14560" y="14565"/>
                </a:moveTo>
                <a:quadBezTo>
                  <a:pt x="12700" y="16424"/>
                  <a:pt x="12700" y="19055"/>
                </a:quadBezTo>
                <a:lnTo>
                  <a:pt x="12700" y="92080"/>
                </a:lnTo>
                <a:quadBezTo>
                  <a:pt x="12700" y="94710"/>
                  <a:pt x="14560" y="96570"/>
                </a:quadBezTo>
                <a:quadBezTo>
                  <a:pt x="16420" y="98430"/>
                  <a:pt x="19050" y="98430"/>
                </a:quadBezTo>
                <a:lnTo>
                  <a:pt x="114300" y="98430"/>
                </a:lnTo>
                <a:quadBezTo>
                  <a:pt x="116930" y="98430"/>
                  <a:pt x="118790" y="96570"/>
                </a:quadBezTo>
                <a:quadBezTo>
                  <a:pt x="120650" y="94710"/>
                  <a:pt x="120650" y="92080"/>
                </a:quadBezTo>
                <a:lnTo>
                  <a:pt x="120650" y="31755"/>
                </a:lnTo>
                <a:quadBezTo>
                  <a:pt x="120650" y="29124"/>
                  <a:pt x="118790" y="27265"/>
                </a:quadBezTo>
                <a:quadBezTo>
                  <a:pt x="116930" y="25405"/>
                  <a:pt x="114300" y="25405"/>
                </a:quadBezTo>
                <a:lnTo>
                  <a:pt x="58420" y="25405"/>
                </a:lnTo>
                <a:quadBezTo>
                  <a:pt x="57156" y="25409"/>
                  <a:pt x="55990" y="24921"/>
                </a:quadBezTo>
                <a:quadBezTo>
                  <a:pt x="54820" y="24442"/>
                  <a:pt x="53930" y="23545"/>
                </a:quadBezTo>
                <a:lnTo>
                  <a:pt x="43090" y="12705"/>
                </a:lnTo>
                <a:lnTo>
                  <a:pt x="19050" y="12705"/>
                </a:lnTo>
                <a:quadBezTo>
                  <a:pt x="16420" y="12705"/>
                  <a:pt x="14560" y="14565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Box"/>
          <p:cNvSpPr txBox="1"/>
          <p:nvPr/>
        </p:nvSpPr>
        <p:spPr>
          <a:xfrm>
            <a:off x="7810500" y="20574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assets</a:t>
            </a:r>
          </a:p>
        </p:txBody>
      </p:sp>
      <p:sp>
        <p:nvSpPr>
          <p:cNvPr id="81" name="TextBox"/>
          <p:cNvSpPr txBox="1"/>
          <p:nvPr/>
        </p:nvSpPr>
        <p:spPr>
          <a:xfrm>
            <a:off x="12401550" y="20574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10-12 20:05</a:t>
            </a:r>
          </a:p>
        </p:txBody>
      </p:sp>
      <p:sp>
        <p:nvSpPr>
          <p:cNvPr id="82" name="Rectangle"/>
          <p:cNvSpPr/>
          <p:nvPr/>
        </p:nvSpPr>
        <p:spPr>
          <a:xfrm>
            <a:off x="7607300" y="2454275"/>
            <a:ext cx="101600" cy="120650"/>
          </a:xfrm>
          <a:prstGeom prst="roundRect">
            <a:avLst>
              <a:gd name="adj" fmla="val 12500"/>
            </a:avLst>
          </a:prstGeom>
          <a:noFill/>
          <a:ln w="12700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3" name="Path"/>
          <p:cNvSpPr/>
          <p:nvPr/>
        </p:nvSpPr>
        <p:spPr>
          <a:xfrm>
            <a:off x="7629448" y="2482773"/>
            <a:ext cx="57303" cy="63653"/>
          </a:xfrm>
          <a:custGeom>
            <a:avLst/>
            <a:gdLst/>
            <a:ahLst/>
            <a:cxnLst/>
            <a:rect l="0" t="0" r="r" b="b"/>
            <a:pathLst>
              <a:path w="57303" h="63653">
                <a:moveTo>
                  <a:pt x="50877" y="77"/>
                </a:moveTo>
                <a:lnTo>
                  <a:pt x="6427" y="77"/>
                </a:lnTo>
                <a:quadBezTo>
                  <a:pt x="3765" y="0"/>
                  <a:pt x="1936" y="1936"/>
                </a:quadBezTo>
                <a:quadBezTo>
                  <a:pt x="0" y="3765"/>
                  <a:pt x="77" y="6427"/>
                </a:quadBezTo>
                <a:quadBezTo>
                  <a:pt x="0" y="9089"/>
                  <a:pt x="1936" y="10917"/>
                </a:quadBezTo>
                <a:quadBezTo>
                  <a:pt x="3765" y="12853"/>
                  <a:pt x="6427" y="12777"/>
                </a:quadBezTo>
                <a:lnTo>
                  <a:pt x="50877" y="12777"/>
                </a:lnTo>
                <a:quadBezTo>
                  <a:pt x="53539" y="12853"/>
                  <a:pt x="55367" y="10917"/>
                </a:quadBezTo>
                <a:quadBezTo>
                  <a:pt x="57303" y="9089"/>
                  <a:pt x="57227" y="6427"/>
                </a:quadBezTo>
                <a:quadBezTo>
                  <a:pt x="57303" y="3765"/>
                  <a:pt x="55367" y="1936"/>
                </a:quadBezTo>
                <a:quadBezTo>
                  <a:pt x="53539" y="0"/>
                  <a:pt x="50877" y="77"/>
                </a:quadBezTo>
                <a:close/>
                <a:moveTo>
                  <a:pt x="50877" y="25477"/>
                </a:moveTo>
                <a:lnTo>
                  <a:pt x="6427" y="25477"/>
                </a:lnTo>
                <a:quadBezTo>
                  <a:pt x="3765" y="25400"/>
                  <a:pt x="1936" y="27336"/>
                </a:quadBezTo>
                <a:quadBezTo>
                  <a:pt x="0" y="29165"/>
                  <a:pt x="77" y="31827"/>
                </a:quadBezTo>
                <a:quadBezTo>
                  <a:pt x="0" y="34489"/>
                  <a:pt x="1936" y="36317"/>
                </a:quadBezTo>
                <a:quadBezTo>
                  <a:pt x="3765" y="38253"/>
                  <a:pt x="6427" y="38177"/>
                </a:quadBezTo>
                <a:lnTo>
                  <a:pt x="50877" y="38177"/>
                </a:lnTo>
                <a:quadBezTo>
                  <a:pt x="53539" y="38253"/>
                  <a:pt x="55367" y="36317"/>
                </a:quadBezTo>
                <a:quadBezTo>
                  <a:pt x="57303" y="34489"/>
                  <a:pt x="57227" y="31827"/>
                </a:quadBezTo>
                <a:quadBezTo>
                  <a:pt x="57303" y="29165"/>
                  <a:pt x="55367" y="27336"/>
                </a:quadBezTo>
                <a:quadBezTo>
                  <a:pt x="53539" y="25400"/>
                  <a:pt x="50877" y="25477"/>
                </a:quadBezTo>
                <a:close/>
                <a:moveTo>
                  <a:pt x="35002" y="50877"/>
                </a:moveTo>
                <a:lnTo>
                  <a:pt x="6427" y="50877"/>
                </a:lnTo>
                <a:quadBezTo>
                  <a:pt x="3765" y="50800"/>
                  <a:pt x="1936" y="52736"/>
                </a:quadBezTo>
                <a:quadBezTo>
                  <a:pt x="0" y="54565"/>
                  <a:pt x="77" y="57227"/>
                </a:quadBezTo>
                <a:quadBezTo>
                  <a:pt x="0" y="59889"/>
                  <a:pt x="1936" y="61717"/>
                </a:quadBezTo>
                <a:quadBezTo>
                  <a:pt x="3765" y="63653"/>
                  <a:pt x="6427" y="63577"/>
                </a:quadBezTo>
                <a:lnTo>
                  <a:pt x="35002" y="63577"/>
                </a:lnTo>
                <a:quadBezTo>
                  <a:pt x="37664" y="63653"/>
                  <a:pt x="39492" y="61717"/>
                </a:quadBezTo>
                <a:quadBezTo>
                  <a:pt x="41428" y="59889"/>
                  <a:pt x="41352" y="57227"/>
                </a:quadBezTo>
                <a:quadBezTo>
                  <a:pt x="41428" y="54565"/>
                  <a:pt x="39492" y="52736"/>
                </a:quadBezTo>
                <a:quadBezTo>
                  <a:pt x="37664" y="50800"/>
                  <a:pt x="35002" y="50877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Box"/>
          <p:cNvSpPr txBox="1"/>
          <p:nvPr/>
        </p:nvSpPr>
        <p:spPr>
          <a:xfrm>
            <a:off x="7810500" y="24384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app.js</a:t>
            </a:r>
          </a:p>
        </p:txBody>
      </p:sp>
      <p:sp>
        <p:nvSpPr>
          <p:cNvPr id="85" name="TextBox"/>
          <p:cNvSpPr txBox="1"/>
          <p:nvPr/>
        </p:nvSpPr>
        <p:spPr>
          <a:xfrm>
            <a:off x="11544300" y="24384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128 KB</a:t>
            </a:r>
          </a:p>
        </p:txBody>
      </p:sp>
      <p:sp>
        <p:nvSpPr>
          <p:cNvPr id="86" name="TextBox"/>
          <p:cNvSpPr txBox="1"/>
          <p:nvPr/>
        </p:nvSpPr>
        <p:spPr>
          <a:xfrm>
            <a:off x="12401550" y="24384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10-11 15:33</a:t>
            </a:r>
          </a:p>
        </p:txBody>
      </p:sp>
      <p:sp>
        <p:nvSpPr>
          <p:cNvPr id="87" name="Rectangle"/>
          <p:cNvSpPr/>
          <p:nvPr/>
        </p:nvSpPr>
        <p:spPr>
          <a:xfrm>
            <a:off x="7607300" y="2835275"/>
            <a:ext cx="101600" cy="120650"/>
          </a:xfrm>
          <a:prstGeom prst="roundRect">
            <a:avLst>
              <a:gd name="adj" fmla="val 12500"/>
            </a:avLst>
          </a:prstGeom>
          <a:noFill/>
          <a:ln w="12700">
            <a:solidFill>
              <a:srgbClr val="5F636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88" name="Path"/>
          <p:cNvSpPr/>
          <p:nvPr/>
        </p:nvSpPr>
        <p:spPr>
          <a:xfrm>
            <a:off x="7629448" y="2863773"/>
            <a:ext cx="57303" cy="63653"/>
          </a:xfrm>
          <a:custGeom>
            <a:avLst/>
            <a:gdLst/>
            <a:ahLst/>
            <a:cxnLst/>
            <a:rect l="0" t="0" r="r" b="b"/>
            <a:pathLst>
              <a:path w="57303" h="63653">
                <a:moveTo>
                  <a:pt x="50877" y="77"/>
                </a:moveTo>
                <a:lnTo>
                  <a:pt x="6427" y="77"/>
                </a:lnTo>
                <a:quadBezTo>
                  <a:pt x="3765" y="0"/>
                  <a:pt x="1936" y="1936"/>
                </a:quadBezTo>
                <a:quadBezTo>
                  <a:pt x="0" y="3765"/>
                  <a:pt x="77" y="6427"/>
                </a:quadBezTo>
                <a:quadBezTo>
                  <a:pt x="0" y="9089"/>
                  <a:pt x="1936" y="10917"/>
                </a:quadBezTo>
                <a:quadBezTo>
                  <a:pt x="3765" y="12853"/>
                  <a:pt x="6427" y="12777"/>
                </a:quadBezTo>
                <a:lnTo>
                  <a:pt x="50877" y="12777"/>
                </a:lnTo>
                <a:quadBezTo>
                  <a:pt x="53539" y="12853"/>
                  <a:pt x="55367" y="10917"/>
                </a:quadBezTo>
                <a:quadBezTo>
                  <a:pt x="57303" y="9089"/>
                  <a:pt x="57227" y="6427"/>
                </a:quadBezTo>
                <a:quadBezTo>
                  <a:pt x="57303" y="3765"/>
                  <a:pt x="55367" y="1936"/>
                </a:quadBezTo>
                <a:quadBezTo>
                  <a:pt x="53539" y="0"/>
                  <a:pt x="50877" y="77"/>
                </a:quadBezTo>
                <a:close/>
                <a:moveTo>
                  <a:pt x="50877" y="25477"/>
                </a:moveTo>
                <a:lnTo>
                  <a:pt x="6427" y="25477"/>
                </a:lnTo>
                <a:quadBezTo>
                  <a:pt x="3765" y="25400"/>
                  <a:pt x="1936" y="27336"/>
                </a:quadBezTo>
                <a:quadBezTo>
                  <a:pt x="0" y="29165"/>
                  <a:pt x="77" y="31827"/>
                </a:quadBezTo>
                <a:quadBezTo>
                  <a:pt x="0" y="34489"/>
                  <a:pt x="1936" y="36317"/>
                </a:quadBezTo>
                <a:quadBezTo>
                  <a:pt x="3765" y="38253"/>
                  <a:pt x="6427" y="38177"/>
                </a:quadBezTo>
                <a:lnTo>
                  <a:pt x="50877" y="38177"/>
                </a:lnTo>
                <a:quadBezTo>
                  <a:pt x="53539" y="38253"/>
                  <a:pt x="55367" y="36317"/>
                </a:quadBezTo>
                <a:quadBezTo>
                  <a:pt x="57303" y="34489"/>
                  <a:pt x="57227" y="31827"/>
                </a:quadBezTo>
                <a:quadBezTo>
                  <a:pt x="57303" y="29165"/>
                  <a:pt x="55367" y="27336"/>
                </a:quadBezTo>
                <a:quadBezTo>
                  <a:pt x="53539" y="25400"/>
                  <a:pt x="50877" y="25477"/>
                </a:quadBezTo>
                <a:close/>
                <a:moveTo>
                  <a:pt x="35002" y="50877"/>
                </a:moveTo>
                <a:lnTo>
                  <a:pt x="6427" y="50877"/>
                </a:lnTo>
                <a:quadBezTo>
                  <a:pt x="3765" y="50800"/>
                  <a:pt x="1936" y="52736"/>
                </a:quadBezTo>
                <a:quadBezTo>
                  <a:pt x="0" y="54565"/>
                  <a:pt x="77" y="57227"/>
                </a:quadBezTo>
                <a:quadBezTo>
                  <a:pt x="0" y="59889"/>
                  <a:pt x="1936" y="61717"/>
                </a:quadBezTo>
                <a:quadBezTo>
                  <a:pt x="3765" y="63653"/>
                  <a:pt x="6427" y="63577"/>
                </a:quadBezTo>
                <a:lnTo>
                  <a:pt x="35002" y="63577"/>
                </a:lnTo>
                <a:quadBezTo>
                  <a:pt x="37664" y="63653"/>
                  <a:pt x="39492" y="61717"/>
                </a:quadBezTo>
                <a:quadBezTo>
                  <a:pt x="41428" y="59889"/>
                  <a:pt x="41352" y="57227"/>
                </a:quadBezTo>
                <a:quadBezTo>
                  <a:pt x="41428" y="54565"/>
                  <a:pt x="39492" y="52736"/>
                </a:quadBezTo>
                <a:quadBezTo>
                  <a:pt x="37664" y="50800"/>
                  <a:pt x="35002" y="50877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"/>
          <p:cNvSpPr txBox="1"/>
          <p:nvPr/>
        </p:nvSpPr>
        <p:spPr>
          <a:xfrm>
            <a:off x="7810500" y="2819400"/>
            <a:ext cx="27432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.env</a:t>
            </a:r>
          </a:p>
        </p:txBody>
      </p:sp>
      <p:sp>
        <p:nvSpPr>
          <p:cNvPr id="90" name="TextBox"/>
          <p:cNvSpPr txBox="1"/>
          <p:nvPr/>
        </p:nvSpPr>
        <p:spPr>
          <a:xfrm>
            <a:off x="11544300" y="2819400"/>
            <a:ext cx="4114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1.2 KB</a:t>
            </a:r>
          </a:p>
        </p:txBody>
      </p:sp>
      <p:sp>
        <p:nvSpPr>
          <p:cNvPr id="91" name="TextBox"/>
          <p:cNvSpPr txBox="1"/>
          <p:nvPr/>
        </p:nvSpPr>
        <p:spPr>
          <a:xfrm>
            <a:off x="12401550" y="2819400"/>
            <a:ext cx="7543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10-09 11:48</a:t>
            </a:r>
          </a:p>
        </p:txBody>
      </p:sp>
      <p:sp>
        <p:nvSpPr>
          <p:cNvPr id="92" name="Rectangle"/>
          <p:cNvSpPr/>
          <p:nvPr/>
        </p:nvSpPr>
        <p:spPr>
          <a:xfrm>
            <a:off x="7472363" y="785813"/>
            <a:ext cx="6086475" cy="5810250"/>
          </a:xfrm>
          <a:prstGeom prst="roundRect">
            <a:avLst>
              <a:gd name="adj" fmla="val 1885"/>
            </a:avLst>
          </a:prstGeom>
          <a:noFill/>
          <a:ln w="9525">
            <a:solidFill>
              <a:srgbClr val="E5E7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angle"/>
          <p:cNvSpPr/>
          <p:nvPr/>
        </p:nvSpPr>
        <p:spPr>
          <a:xfrm>
            <a:off x="762000" y="6905625"/>
            <a:ext cx="12801600" cy="151447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Box"/>
          <p:cNvSpPr txBox="1"/>
          <p:nvPr/>
        </p:nvSpPr>
        <p:spPr>
          <a:xfrm>
            <a:off x="914400" y="7058025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75">
                <a:solidFill>
                  <a:srgbClr val="202124"/>
                </a:solidFill>
                <a:latin typeface="Inter Bold"/>
                <a:ea typeface="Inter Bold"/>
                <a:cs typeface="Inter Bold"/>
              </a:rPr>
              <a:t>传输队列</a:t>
            </a:r>
          </a:p>
        </p:txBody>
      </p:sp>
      <p:sp>
        <p:nvSpPr>
          <p:cNvPr id="95" name="TextBox"/>
          <p:cNvSpPr txBox="1"/>
          <p:nvPr/>
        </p:nvSpPr>
        <p:spPr>
          <a:xfrm>
            <a:off x="12954000" y="7067550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900">
                <a:solidFill>
                  <a:srgbClr val="1A73E8"/>
                </a:solidFill>
                <a:latin typeface="Inter"/>
                <a:ea typeface="Inter"/>
                <a:cs typeface="Inter"/>
              </a:rPr>
              <a:t>全部暂停</a:t>
            </a:r>
          </a:p>
        </p:txBody>
      </p:sp>
      <p:sp>
        <p:nvSpPr>
          <p:cNvPr id="96" name="Rectangle"/>
          <p:cNvSpPr/>
          <p:nvPr/>
        </p:nvSpPr>
        <p:spPr>
          <a:xfrm>
            <a:off x="939800" y="7416800"/>
            <a:ext cx="101600" cy="120650"/>
          </a:xfrm>
          <a:prstGeom prst="roundRect">
            <a:avLst>
              <a:gd name="adj" fmla="val 12500"/>
            </a:avLst>
          </a:prstGeom>
          <a:noFill/>
          <a:ln w="12700">
            <a:solidFill>
              <a:srgbClr val="1A73E8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97" name="Path"/>
          <p:cNvSpPr/>
          <p:nvPr/>
        </p:nvSpPr>
        <p:spPr>
          <a:xfrm>
            <a:off x="961948" y="7445298"/>
            <a:ext cx="57303" cy="63653"/>
          </a:xfrm>
          <a:custGeom>
            <a:avLst/>
            <a:gdLst/>
            <a:ahLst/>
            <a:cxnLst/>
            <a:rect l="0" t="0" r="r" b="b"/>
            <a:pathLst>
              <a:path w="57303" h="63653">
                <a:moveTo>
                  <a:pt x="50877" y="77"/>
                </a:moveTo>
                <a:lnTo>
                  <a:pt x="6427" y="77"/>
                </a:lnTo>
                <a:quadBezTo>
                  <a:pt x="3765" y="0"/>
                  <a:pt x="1936" y="1936"/>
                </a:quadBezTo>
                <a:quadBezTo>
                  <a:pt x="0" y="3765"/>
                  <a:pt x="77" y="6427"/>
                </a:quadBezTo>
                <a:quadBezTo>
                  <a:pt x="0" y="9089"/>
                  <a:pt x="1936" y="10917"/>
                </a:quadBezTo>
                <a:quadBezTo>
                  <a:pt x="3765" y="12853"/>
                  <a:pt x="6427" y="12777"/>
                </a:quadBezTo>
                <a:lnTo>
                  <a:pt x="50877" y="12777"/>
                </a:lnTo>
                <a:quadBezTo>
                  <a:pt x="53539" y="12853"/>
                  <a:pt x="55367" y="10917"/>
                </a:quadBezTo>
                <a:quadBezTo>
                  <a:pt x="57303" y="9089"/>
                  <a:pt x="57227" y="6427"/>
                </a:quadBezTo>
                <a:quadBezTo>
                  <a:pt x="57303" y="3765"/>
                  <a:pt x="55367" y="1936"/>
                </a:quadBezTo>
                <a:quadBezTo>
                  <a:pt x="53539" y="0"/>
                  <a:pt x="50877" y="77"/>
                </a:quadBezTo>
                <a:close/>
                <a:moveTo>
                  <a:pt x="50877" y="25477"/>
                </a:moveTo>
                <a:lnTo>
                  <a:pt x="6427" y="25477"/>
                </a:lnTo>
                <a:quadBezTo>
                  <a:pt x="3765" y="25400"/>
                  <a:pt x="1936" y="27336"/>
                </a:quadBezTo>
                <a:quadBezTo>
                  <a:pt x="0" y="29165"/>
                  <a:pt x="77" y="31827"/>
                </a:quadBezTo>
                <a:quadBezTo>
                  <a:pt x="0" y="34489"/>
                  <a:pt x="1936" y="36317"/>
                </a:quadBezTo>
                <a:quadBezTo>
                  <a:pt x="3765" y="38253"/>
                  <a:pt x="6427" y="38177"/>
                </a:quadBezTo>
                <a:lnTo>
                  <a:pt x="50877" y="38177"/>
                </a:lnTo>
                <a:quadBezTo>
                  <a:pt x="53539" y="38253"/>
                  <a:pt x="55367" y="36317"/>
                </a:quadBezTo>
                <a:quadBezTo>
                  <a:pt x="57303" y="34489"/>
                  <a:pt x="57227" y="31827"/>
                </a:quadBezTo>
                <a:quadBezTo>
                  <a:pt x="57303" y="29165"/>
                  <a:pt x="55367" y="27336"/>
                </a:quadBezTo>
                <a:quadBezTo>
                  <a:pt x="53539" y="25400"/>
                  <a:pt x="50877" y="25477"/>
                </a:quadBezTo>
                <a:close/>
                <a:moveTo>
                  <a:pt x="35002" y="50877"/>
                </a:moveTo>
                <a:lnTo>
                  <a:pt x="6427" y="50877"/>
                </a:lnTo>
                <a:quadBezTo>
                  <a:pt x="3765" y="50800"/>
                  <a:pt x="1936" y="52736"/>
                </a:quadBezTo>
                <a:quadBezTo>
                  <a:pt x="0" y="54565"/>
                  <a:pt x="77" y="57227"/>
                </a:quadBezTo>
                <a:quadBezTo>
                  <a:pt x="0" y="59889"/>
                  <a:pt x="1936" y="61717"/>
                </a:quadBezTo>
                <a:quadBezTo>
                  <a:pt x="3765" y="63653"/>
                  <a:pt x="6427" y="63577"/>
                </a:quadBezTo>
                <a:lnTo>
                  <a:pt x="35002" y="63577"/>
                </a:lnTo>
                <a:quadBezTo>
                  <a:pt x="37664" y="63653"/>
                  <a:pt x="39492" y="61717"/>
                </a:quadBezTo>
                <a:quadBezTo>
                  <a:pt x="41428" y="59889"/>
                  <a:pt x="41352" y="57227"/>
                </a:quadBezTo>
                <a:quadBezTo>
                  <a:pt x="41428" y="54565"/>
                  <a:pt x="39492" y="52736"/>
                </a:quadBezTo>
                <a:quadBezTo>
                  <a:pt x="37664" y="50800"/>
                  <a:pt x="35002" y="50877"/>
                </a:quad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Box"/>
          <p:cNvSpPr txBox="1"/>
          <p:nvPr/>
        </p:nvSpPr>
        <p:spPr>
          <a:xfrm>
            <a:off x="1181100" y="7343775"/>
            <a:ext cx="19202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backup.sql  →  /var/backups/</a:t>
            </a:r>
          </a:p>
        </p:txBody>
      </p:sp>
      <p:sp>
        <p:nvSpPr>
          <p:cNvPr id="99" name="Rectangle"/>
          <p:cNvSpPr/>
          <p:nvPr/>
        </p:nvSpPr>
        <p:spPr>
          <a:xfrm>
            <a:off x="1181100" y="7553325"/>
            <a:ext cx="10544175" cy="571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angle"/>
          <p:cNvSpPr/>
          <p:nvPr/>
        </p:nvSpPr>
        <p:spPr>
          <a:xfrm>
            <a:off x="1181100" y="7553325"/>
            <a:ext cx="2333625" cy="5715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"/>
          <p:cNvSpPr txBox="1"/>
          <p:nvPr/>
        </p:nvSpPr>
        <p:spPr>
          <a:xfrm>
            <a:off x="11839575" y="7410450"/>
            <a:ext cx="18859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1A73E8"/>
                </a:solidFill>
                <a:latin typeface="JetBrains Mono"/>
                <a:ea typeface="JetBrains Mono"/>
                <a:cs typeface="JetBrains Mono"/>
              </a:rPr>
              <a:t>45%</a:t>
            </a:r>
          </a:p>
        </p:txBody>
      </p:sp>
      <p:sp>
        <p:nvSpPr>
          <p:cNvPr id="102" name="TextBox"/>
          <p:cNvSpPr txBox="1"/>
          <p:nvPr/>
        </p:nvSpPr>
        <p:spPr>
          <a:xfrm>
            <a:off x="12144375" y="7410450"/>
            <a:ext cx="50292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5F6368"/>
                </a:solidFill>
                <a:latin typeface="JetBrains Mono"/>
                <a:ea typeface="JetBrains Mono"/>
                <a:cs typeface="JetBrains Mono"/>
              </a:rPr>
              <a:t>8.2 MB/s</a:t>
            </a:r>
          </a:p>
        </p:txBody>
      </p:sp>
      <p:sp>
        <p:nvSpPr>
          <p:cNvPr id="103" name="Path"/>
          <p:cNvSpPr/>
          <p:nvPr/>
        </p:nvSpPr>
        <p:spPr>
          <a:xfrm>
            <a:off x="12874709" y="7439506"/>
            <a:ext cx="53807" cy="84763"/>
          </a:xfrm>
          <a:custGeom>
            <a:avLst/>
            <a:gdLst/>
            <a:ahLst/>
            <a:cxnLst/>
            <a:rect l="0" t="0" r="r" b="b"/>
            <a:pathLst>
              <a:path w="53807" h="84763">
                <a:moveTo>
                  <a:pt x="12457" y="78497"/>
                </a:moveTo>
                <a:lnTo>
                  <a:pt x="12457" y="6266"/>
                </a:lnTo>
                <a:quadBezTo>
                  <a:pt x="12532" y="3671"/>
                  <a:pt x="10644" y="1888"/>
                </a:quadBezTo>
                <a:quadBezTo>
                  <a:pt x="8861" y="0"/>
                  <a:pt x="6266" y="75"/>
                </a:quadBezTo>
                <a:quadBezTo>
                  <a:pt x="3671" y="0"/>
                  <a:pt x="1888" y="1888"/>
                </a:quadBezTo>
                <a:quadBezTo>
                  <a:pt x="0" y="3671"/>
                  <a:pt x="75" y="6266"/>
                </a:quadBezTo>
                <a:lnTo>
                  <a:pt x="75" y="78497"/>
                </a:lnTo>
                <a:quadBezTo>
                  <a:pt x="0" y="81093"/>
                  <a:pt x="1888" y="82875"/>
                </a:quadBezTo>
                <a:quadBezTo>
                  <a:pt x="3671" y="84763"/>
                  <a:pt x="6266" y="84688"/>
                </a:quadBezTo>
                <a:quadBezTo>
                  <a:pt x="8861" y="84763"/>
                  <a:pt x="10644" y="82875"/>
                </a:quadBezTo>
                <a:quadBezTo>
                  <a:pt x="12532" y="81093"/>
                  <a:pt x="12457" y="78497"/>
                </a:quadBezTo>
                <a:close/>
                <a:moveTo>
                  <a:pt x="53732" y="78497"/>
                </a:moveTo>
                <a:lnTo>
                  <a:pt x="53732" y="6266"/>
                </a:lnTo>
                <a:quadBezTo>
                  <a:pt x="53807" y="3671"/>
                  <a:pt x="51919" y="1888"/>
                </a:quadBezTo>
                <a:quadBezTo>
                  <a:pt x="50136" y="0"/>
                  <a:pt x="47541" y="75"/>
                </a:quadBezTo>
                <a:quadBezTo>
                  <a:pt x="44946" y="0"/>
                  <a:pt x="43163" y="1888"/>
                </a:quadBezTo>
                <a:quadBezTo>
                  <a:pt x="41275" y="3671"/>
                  <a:pt x="41350" y="6266"/>
                </a:quadBezTo>
                <a:lnTo>
                  <a:pt x="41350" y="78497"/>
                </a:lnTo>
                <a:quadBezTo>
                  <a:pt x="41275" y="81093"/>
                  <a:pt x="43163" y="82875"/>
                </a:quadBezTo>
                <a:quadBezTo>
                  <a:pt x="44946" y="84763"/>
                  <a:pt x="47541" y="84688"/>
                </a:quadBezTo>
                <a:quadBezTo>
                  <a:pt x="50136" y="84763"/>
                  <a:pt x="51919" y="82875"/>
                </a:quadBezTo>
                <a:quadBezTo>
                  <a:pt x="53807" y="81093"/>
                  <a:pt x="53732" y="78497"/>
                </a:quadBez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Path"/>
          <p:cNvSpPr/>
          <p:nvPr/>
        </p:nvSpPr>
        <p:spPr>
          <a:xfrm>
            <a:off x="13238142" y="7437418"/>
            <a:ext cx="88940" cy="88940"/>
          </a:xfrm>
          <a:custGeom>
            <a:avLst/>
            <a:gdLst/>
            <a:ahLst/>
            <a:cxnLst/>
            <a:rect l="0" t="0" r="r" b="b"/>
            <a:pathLst>
              <a:path w="88940" h="88940">
                <a:moveTo>
                  <a:pt x="56145" y="44470"/>
                </a:moveTo>
                <a:lnTo>
                  <a:pt x="86423" y="14192"/>
                </a:lnTo>
                <a:quadBezTo>
                  <a:pt x="88940" y="11815"/>
                  <a:pt x="88841" y="8355"/>
                </a:quadBezTo>
                <a:quadBezTo>
                  <a:pt x="88940" y="4894"/>
                  <a:pt x="86423" y="2517"/>
                </a:quadBezTo>
                <a:quadBezTo>
                  <a:pt x="84046" y="0"/>
                  <a:pt x="80586" y="100"/>
                </a:quadBezTo>
                <a:quadBezTo>
                  <a:pt x="77125" y="0"/>
                  <a:pt x="74749" y="2517"/>
                </a:quadBezTo>
                <a:lnTo>
                  <a:pt x="44470" y="32796"/>
                </a:lnTo>
                <a:lnTo>
                  <a:pt x="14192" y="2517"/>
                </a:lnTo>
                <a:quadBezTo>
                  <a:pt x="11815" y="0"/>
                  <a:pt x="8355" y="100"/>
                </a:quadBezTo>
                <a:quadBezTo>
                  <a:pt x="4894" y="0"/>
                  <a:pt x="2517" y="2517"/>
                </a:quadBezTo>
                <a:quadBezTo>
                  <a:pt x="0" y="4894"/>
                  <a:pt x="100" y="8355"/>
                </a:quadBezTo>
                <a:quadBezTo>
                  <a:pt x="0" y="11815"/>
                  <a:pt x="2517" y="14192"/>
                </a:quadBezTo>
                <a:lnTo>
                  <a:pt x="32796" y="44470"/>
                </a:lnTo>
                <a:lnTo>
                  <a:pt x="2517" y="74749"/>
                </a:lnTo>
                <a:quadBezTo>
                  <a:pt x="0" y="77125"/>
                  <a:pt x="100" y="80586"/>
                </a:quadBezTo>
                <a:quadBezTo>
                  <a:pt x="0" y="84046"/>
                  <a:pt x="2517" y="86423"/>
                </a:quadBezTo>
                <a:quadBezTo>
                  <a:pt x="4894" y="88940"/>
                  <a:pt x="8355" y="88841"/>
                </a:quadBezTo>
                <a:quadBezTo>
                  <a:pt x="11815" y="88940"/>
                  <a:pt x="14192" y="86423"/>
                </a:quadBezTo>
                <a:lnTo>
                  <a:pt x="44470" y="56145"/>
                </a:lnTo>
                <a:lnTo>
                  <a:pt x="74749" y="86423"/>
                </a:lnTo>
                <a:quadBezTo>
                  <a:pt x="77125" y="88940"/>
                  <a:pt x="80586" y="88841"/>
                </a:quadBezTo>
                <a:quadBezTo>
                  <a:pt x="84046" y="88940"/>
                  <a:pt x="86423" y="86423"/>
                </a:quadBezTo>
                <a:quadBezTo>
                  <a:pt x="88940" y="84046"/>
                  <a:pt x="88841" y="80586"/>
                </a:quadBezTo>
                <a:quadBezTo>
                  <a:pt x="88940" y="77125"/>
                  <a:pt x="86423" y="74749"/>
                </a:quadBezTo>
                <a:lnTo>
                  <a:pt x="56145" y="44470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Rectangle"/>
          <p:cNvSpPr/>
          <p:nvPr/>
        </p:nvSpPr>
        <p:spPr>
          <a:xfrm>
            <a:off x="939800" y="7816850"/>
            <a:ext cx="101600" cy="120650"/>
          </a:xfrm>
          <a:prstGeom prst="roundRect">
            <a:avLst>
              <a:gd name="adj" fmla="val 12500"/>
            </a:avLst>
          </a:prstGeom>
          <a:noFill/>
          <a:ln w="12700">
            <a:solidFill>
              <a:srgbClr val="34A853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6" name="Path"/>
          <p:cNvSpPr/>
          <p:nvPr/>
        </p:nvSpPr>
        <p:spPr>
          <a:xfrm>
            <a:off x="961948" y="7845348"/>
            <a:ext cx="57303" cy="63653"/>
          </a:xfrm>
          <a:custGeom>
            <a:avLst/>
            <a:gdLst/>
            <a:ahLst/>
            <a:cxnLst/>
            <a:rect l="0" t="0" r="r" b="b"/>
            <a:pathLst>
              <a:path w="57303" h="63653">
                <a:moveTo>
                  <a:pt x="50877" y="77"/>
                </a:moveTo>
                <a:lnTo>
                  <a:pt x="6427" y="77"/>
                </a:lnTo>
                <a:quadBezTo>
                  <a:pt x="3765" y="0"/>
                  <a:pt x="1936" y="1936"/>
                </a:quadBezTo>
                <a:quadBezTo>
                  <a:pt x="0" y="3765"/>
                  <a:pt x="77" y="6427"/>
                </a:quadBezTo>
                <a:quadBezTo>
                  <a:pt x="0" y="9089"/>
                  <a:pt x="1936" y="10917"/>
                </a:quadBezTo>
                <a:quadBezTo>
                  <a:pt x="3765" y="12853"/>
                  <a:pt x="6427" y="12777"/>
                </a:quadBezTo>
                <a:lnTo>
                  <a:pt x="50877" y="12777"/>
                </a:lnTo>
                <a:quadBezTo>
                  <a:pt x="53539" y="12853"/>
                  <a:pt x="55367" y="10917"/>
                </a:quadBezTo>
                <a:quadBezTo>
                  <a:pt x="57303" y="9089"/>
                  <a:pt x="57227" y="6427"/>
                </a:quadBezTo>
                <a:quadBezTo>
                  <a:pt x="57303" y="3765"/>
                  <a:pt x="55367" y="1936"/>
                </a:quadBezTo>
                <a:quadBezTo>
                  <a:pt x="53539" y="0"/>
                  <a:pt x="50877" y="77"/>
                </a:quadBezTo>
                <a:close/>
                <a:moveTo>
                  <a:pt x="50877" y="25477"/>
                </a:moveTo>
                <a:lnTo>
                  <a:pt x="6427" y="25477"/>
                </a:lnTo>
                <a:quadBezTo>
                  <a:pt x="3765" y="25400"/>
                  <a:pt x="1936" y="27336"/>
                </a:quadBezTo>
                <a:quadBezTo>
                  <a:pt x="0" y="29165"/>
                  <a:pt x="77" y="31827"/>
                </a:quadBezTo>
                <a:quadBezTo>
                  <a:pt x="0" y="34489"/>
                  <a:pt x="1936" y="36317"/>
                </a:quadBezTo>
                <a:quadBezTo>
                  <a:pt x="3765" y="38253"/>
                  <a:pt x="6427" y="38177"/>
                </a:quadBezTo>
                <a:lnTo>
                  <a:pt x="50877" y="38177"/>
                </a:lnTo>
                <a:quadBezTo>
                  <a:pt x="53539" y="38253"/>
                  <a:pt x="55367" y="36317"/>
                </a:quadBezTo>
                <a:quadBezTo>
                  <a:pt x="57303" y="34489"/>
                  <a:pt x="57227" y="31827"/>
                </a:quadBezTo>
                <a:quadBezTo>
                  <a:pt x="57303" y="29165"/>
                  <a:pt x="55367" y="27336"/>
                </a:quadBezTo>
                <a:quadBezTo>
                  <a:pt x="53539" y="25400"/>
                  <a:pt x="50877" y="25477"/>
                </a:quadBezTo>
                <a:close/>
                <a:moveTo>
                  <a:pt x="35002" y="50877"/>
                </a:moveTo>
                <a:lnTo>
                  <a:pt x="6427" y="50877"/>
                </a:lnTo>
                <a:quadBezTo>
                  <a:pt x="3765" y="50800"/>
                  <a:pt x="1936" y="52736"/>
                </a:quadBezTo>
                <a:quadBezTo>
                  <a:pt x="0" y="54565"/>
                  <a:pt x="77" y="57227"/>
                </a:quadBezTo>
                <a:quadBezTo>
                  <a:pt x="0" y="59889"/>
                  <a:pt x="1936" y="61717"/>
                </a:quadBezTo>
                <a:quadBezTo>
                  <a:pt x="3765" y="63653"/>
                  <a:pt x="6427" y="63577"/>
                </a:quadBezTo>
                <a:lnTo>
                  <a:pt x="35002" y="63577"/>
                </a:lnTo>
                <a:quadBezTo>
                  <a:pt x="37664" y="63653"/>
                  <a:pt x="39492" y="61717"/>
                </a:quadBezTo>
                <a:quadBezTo>
                  <a:pt x="41428" y="59889"/>
                  <a:pt x="41352" y="57227"/>
                </a:quadBezTo>
                <a:quadBezTo>
                  <a:pt x="41428" y="54565"/>
                  <a:pt x="39492" y="52736"/>
                </a:quadBezTo>
                <a:quadBezTo>
                  <a:pt x="37664" y="50800"/>
                  <a:pt x="35002" y="50877"/>
                </a:quadBezTo>
                <a:close/>
              </a:path>
            </a:pathLst>
          </a:cu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Box"/>
          <p:cNvSpPr txBox="1"/>
          <p:nvPr/>
        </p:nvSpPr>
        <p:spPr>
          <a:xfrm>
            <a:off x="1181100" y="7743825"/>
            <a:ext cx="246887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900">
                <a:solidFill>
                  <a:srgbClr val="202124"/>
                </a:solidFill>
                <a:latin typeface="JetBrains Mono"/>
                <a:ea typeface="JetBrains Mono"/>
                <a:cs typeface="JetBrains Mono"/>
              </a:rPr>
              <a:t>nginx.conf  →  /etc/nginx/nginx.conf</a:t>
            </a:r>
          </a:p>
        </p:txBody>
      </p:sp>
      <p:sp>
        <p:nvSpPr>
          <p:cNvPr id="108" name="Rectangle"/>
          <p:cNvSpPr/>
          <p:nvPr/>
        </p:nvSpPr>
        <p:spPr>
          <a:xfrm>
            <a:off x="1181100" y="7953375"/>
            <a:ext cx="10782300" cy="571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Rectangle"/>
          <p:cNvSpPr/>
          <p:nvPr/>
        </p:nvSpPr>
        <p:spPr>
          <a:xfrm>
            <a:off x="1181100" y="7953375"/>
            <a:ext cx="952500" cy="5715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Box"/>
          <p:cNvSpPr txBox="1"/>
          <p:nvPr/>
        </p:nvSpPr>
        <p:spPr>
          <a:xfrm>
            <a:off x="12077700" y="7820025"/>
            <a:ext cx="31432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34A853"/>
                </a:solidFill>
                <a:latin typeface="Inter"/>
                <a:ea typeface="Inter"/>
                <a:cs typeface="Inter"/>
              </a:rPr>
              <a:t>已完成</a:t>
            </a:r>
          </a:p>
        </p:txBody>
      </p:sp>
      <p:sp>
        <p:nvSpPr>
          <p:cNvPr id="111" name="TextBox"/>
          <p:cNvSpPr txBox="1"/>
          <p:nvPr/>
        </p:nvSpPr>
        <p:spPr>
          <a:xfrm>
            <a:off x="12506325" y="7810500"/>
            <a:ext cx="25146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825">
                <a:solidFill>
                  <a:srgbClr val="9AA0A6"/>
                </a:solidFill>
                <a:latin typeface="JetBrains Mono"/>
                <a:ea typeface="JetBrains Mono"/>
                <a:cs typeface="JetBrains Mono"/>
              </a:rPr>
              <a:t>1.2s</a:t>
            </a:r>
          </a:p>
        </p:txBody>
      </p:sp>
      <p:sp>
        <p:nvSpPr>
          <p:cNvPr id="112" name="Path"/>
          <p:cNvSpPr/>
          <p:nvPr/>
        </p:nvSpPr>
        <p:spPr>
          <a:xfrm>
            <a:off x="12971442" y="7837468"/>
            <a:ext cx="88940" cy="88940"/>
          </a:xfrm>
          <a:custGeom>
            <a:avLst/>
            <a:gdLst/>
            <a:ahLst/>
            <a:cxnLst/>
            <a:rect l="0" t="0" r="r" b="b"/>
            <a:pathLst>
              <a:path w="88940" h="88940">
                <a:moveTo>
                  <a:pt x="56145" y="44470"/>
                </a:moveTo>
                <a:lnTo>
                  <a:pt x="86423" y="14192"/>
                </a:lnTo>
                <a:quadBezTo>
                  <a:pt x="88940" y="11815"/>
                  <a:pt x="88841" y="8355"/>
                </a:quadBezTo>
                <a:quadBezTo>
                  <a:pt x="88940" y="4894"/>
                  <a:pt x="86423" y="2517"/>
                </a:quadBezTo>
                <a:quadBezTo>
                  <a:pt x="84046" y="0"/>
                  <a:pt x="80586" y="100"/>
                </a:quadBezTo>
                <a:quadBezTo>
                  <a:pt x="77125" y="0"/>
                  <a:pt x="74749" y="2517"/>
                </a:quadBezTo>
                <a:lnTo>
                  <a:pt x="44470" y="32796"/>
                </a:lnTo>
                <a:lnTo>
                  <a:pt x="14192" y="2517"/>
                </a:lnTo>
                <a:quadBezTo>
                  <a:pt x="11815" y="0"/>
                  <a:pt x="8355" y="100"/>
                </a:quadBezTo>
                <a:quadBezTo>
                  <a:pt x="4894" y="0"/>
                  <a:pt x="2517" y="2517"/>
                </a:quadBezTo>
                <a:quadBezTo>
                  <a:pt x="0" y="4894"/>
                  <a:pt x="100" y="8355"/>
                </a:quadBezTo>
                <a:quadBezTo>
                  <a:pt x="0" y="11815"/>
                  <a:pt x="2517" y="14192"/>
                </a:quadBezTo>
                <a:lnTo>
                  <a:pt x="32796" y="44470"/>
                </a:lnTo>
                <a:lnTo>
                  <a:pt x="2517" y="74749"/>
                </a:lnTo>
                <a:quadBezTo>
                  <a:pt x="0" y="77125"/>
                  <a:pt x="100" y="80586"/>
                </a:quadBezTo>
                <a:quadBezTo>
                  <a:pt x="0" y="84046"/>
                  <a:pt x="2517" y="86423"/>
                </a:quadBezTo>
                <a:quadBezTo>
                  <a:pt x="4894" y="88940"/>
                  <a:pt x="8355" y="88841"/>
                </a:quadBezTo>
                <a:quadBezTo>
                  <a:pt x="11815" y="88940"/>
                  <a:pt x="14192" y="86423"/>
                </a:quadBezTo>
                <a:lnTo>
                  <a:pt x="44470" y="56145"/>
                </a:lnTo>
                <a:lnTo>
                  <a:pt x="74749" y="86423"/>
                </a:lnTo>
                <a:quadBezTo>
                  <a:pt x="77125" y="88940"/>
                  <a:pt x="80586" y="88841"/>
                </a:quadBezTo>
                <a:quadBezTo>
                  <a:pt x="84046" y="88940"/>
                  <a:pt x="86423" y="86423"/>
                </a:quadBezTo>
                <a:quadBezTo>
                  <a:pt x="88940" y="84046"/>
                  <a:pt x="88841" y="80586"/>
                </a:quadBezTo>
                <a:quadBezTo>
                  <a:pt x="88940" y="77125"/>
                  <a:pt x="86423" y="74749"/>
                </a:quadBezTo>
                <a:lnTo>
                  <a:pt x="56145" y="44470"/>
                </a:lnTo>
                <a:close/>
              </a:path>
            </a:pathLst>
          </a:custGeom>
          <a:solidFill>
            <a:srgbClr val="9AA0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Ellipse"/>
          <p:cNvSpPr/>
          <p:nvPr/>
        </p:nvSpPr>
        <p:spPr>
          <a:xfrm>
            <a:off x="13277850" y="7820025"/>
            <a:ext cx="114300" cy="114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Path"/>
          <p:cNvSpPr/>
          <p:nvPr/>
        </p:nvSpPr>
        <p:spPr>
          <a:xfrm>
            <a:off x="13302531" y="7854204"/>
            <a:ext cx="64966" cy="47832"/>
          </a:xfrm>
          <a:custGeom>
            <a:avLst/>
            <a:gdLst/>
            <a:ahLst/>
            <a:cxnLst/>
            <a:rect l="0" t="0" r="r" b="b"/>
            <a:pathLst>
              <a:path w="64966" h="47832">
                <a:moveTo>
                  <a:pt x="23625" y="30919"/>
                </a:moveTo>
                <a:lnTo>
                  <a:pt x="12008" y="19302"/>
                </a:lnTo>
                <a:quadBezTo>
                  <a:pt x="9997" y="17172"/>
                  <a:pt x="7069" y="17256"/>
                </a:quadBezTo>
                <a:quadBezTo>
                  <a:pt x="4141" y="17172"/>
                  <a:pt x="2130" y="19302"/>
                </a:quadBezTo>
                <a:quadBezTo>
                  <a:pt x="0" y="21313"/>
                  <a:pt x="84" y="24241"/>
                </a:quadBezTo>
                <a:quadBezTo>
                  <a:pt x="0" y="27170"/>
                  <a:pt x="2130" y="29180"/>
                </a:quadBezTo>
                <a:lnTo>
                  <a:pt x="18640" y="45690"/>
                </a:lnTo>
                <a:quadBezTo>
                  <a:pt x="20638" y="47805"/>
                  <a:pt x="23547" y="47736"/>
                </a:quadBezTo>
                <a:quadBezTo>
                  <a:pt x="26454" y="47832"/>
                  <a:pt x="28472" y="45736"/>
                </a:quadBezTo>
                <a:lnTo>
                  <a:pt x="62762" y="12081"/>
                </a:lnTo>
                <a:quadBezTo>
                  <a:pt x="64911" y="10090"/>
                  <a:pt x="64854" y="7162"/>
                </a:quadBezTo>
                <a:quadBezTo>
                  <a:pt x="64966" y="4234"/>
                  <a:pt x="62854" y="2204"/>
                </a:quadBezTo>
                <a:quadBezTo>
                  <a:pt x="60863" y="55"/>
                  <a:pt x="57935" y="112"/>
                </a:quadBezTo>
                <a:quadBezTo>
                  <a:pt x="55007" y="0"/>
                  <a:pt x="52977" y="2111"/>
                </a:quadBezTo>
                <a:lnTo>
                  <a:pt x="23625" y="309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Box"/>
          <p:cNvSpPr txBox="1"/>
          <p:nvPr/>
        </p:nvSpPr>
        <p:spPr>
          <a:xfrm>
            <a:off x="914400" y="8143875"/>
            <a:ext cx="1990725" cy="123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825">
                <a:solidFill>
                  <a:srgbClr val="9AA0A6"/>
                </a:solidFill>
                <a:latin typeface="Inter"/>
                <a:ea typeface="Inter"/>
                <a:cs typeface="Inter"/>
              </a:rPr>
              <a:t>选中文件后，也可直接拖拽到对侧面板传输</a:t>
            </a:r>
          </a:p>
        </p:txBody>
      </p:sp>
      <p:sp>
        <p:nvSpPr>
          <p:cNvPr id="116" name="Rectangle"/>
          <p:cNvSpPr/>
          <p:nvPr/>
        </p:nvSpPr>
        <p:spPr>
          <a:xfrm>
            <a:off x="766763" y="6910388"/>
            <a:ext cx="12792075" cy="1504950"/>
          </a:xfrm>
          <a:prstGeom prst="roundRect">
            <a:avLst>
              <a:gd name="adj" fmla="val 7278"/>
            </a:avLst>
          </a:prstGeom>
          <a:noFill/>
          <a:ln w="9525">
            <a:solidFill>
              <a:srgbClr val="E5E7EB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3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